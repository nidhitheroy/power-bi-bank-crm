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8" r:id="rId3"/>
    <p:sldId id="259" r:id="rId4"/>
    <p:sldId id="260" r:id="rId5"/>
    <p:sldId id="262" r:id="rId6"/>
    <p:sldId id="263" r:id="rId7"/>
    <p:sldId id="266" r:id="rId8"/>
    <p:sldId id="264" r:id="rId9"/>
    <p:sldId id="265" r:id="rId10"/>
    <p:sldId id="267" r:id="rId11"/>
    <p:sldId id="268" r:id="rId12"/>
    <p:sldId id="270" r:id="rId13"/>
    <p:sldId id="269" r:id="rId14"/>
    <p:sldId id="271" r:id="rId15"/>
    <p:sldId id="272" r:id="rId16"/>
    <p:sldId id="273" r:id="rId17"/>
    <p:sldId id="278" r:id="rId18"/>
    <p:sldId id="276" r:id="rId19"/>
    <p:sldId id="286" r:id="rId20"/>
    <p:sldId id="285" r:id="rId21"/>
    <p:sldId id="284" r:id="rId22"/>
    <p:sldId id="279" r:id="rId23"/>
    <p:sldId id="280" r:id="rId24"/>
    <p:sldId id="282" r:id="rId25"/>
    <p:sldId id="281"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BF9"/>
    <a:srgbClr val="E2CF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71CB59-818E-40FC-A550-972D88AB759A}" v="136" dt="2025-11-07T19:01:46.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1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52727-A3C8-4A2E-8C28-E821A2BD57B7}" type="datetimeFigureOut">
              <a:rPr lang="en-IN" smtClean="0"/>
              <a:t>13-12-2025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18DE2B-BE50-43C2-B1ED-FB9747B1FB4D}" type="slidenum">
              <a:rPr lang="en-IN" smtClean="0"/>
              <a:t>‹#›</a:t>
            </a:fld>
            <a:endParaRPr lang="en-IN"/>
          </a:p>
        </p:txBody>
      </p:sp>
    </p:spTree>
    <p:extLst>
      <p:ext uri="{BB962C8B-B14F-4D97-AF65-F5344CB8AC3E}">
        <p14:creationId xmlns:p14="http://schemas.microsoft.com/office/powerpoint/2010/main" val="6879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18DE2B-BE50-43C2-B1ED-FB9747B1FB4D}" type="slidenum">
              <a:rPr lang="en-IN" smtClean="0"/>
              <a:t>2</a:t>
            </a:fld>
            <a:endParaRPr lang="en-IN"/>
          </a:p>
        </p:txBody>
      </p:sp>
    </p:spTree>
    <p:extLst>
      <p:ext uri="{BB962C8B-B14F-4D97-AF65-F5344CB8AC3E}">
        <p14:creationId xmlns:p14="http://schemas.microsoft.com/office/powerpoint/2010/main" val="630653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9B09-77AA-A9E5-E238-ED04A6CFF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1A856-604E-9DD8-BF51-5B5FF158E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7C5D5-239B-62A8-3457-FD516E1144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459A61-1D34-D1CA-9CDC-7D3D4B9F2218}"/>
              </a:ext>
            </a:extLst>
          </p:cNvPr>
          <p:cNvSpPr>
            <a:spLocks noGrp="1"/>
          </p:cNvSpPr>
          <p:nvPr>
            <p:ph type="sldNum" sz="quarter" idx="5"/>
          </p:nvPr>
        </p:nvSpPr>
        <p:spPr/>
        <p:txBody>
          <a:bodyPr/>
          <a:lstStyle/>
          <a:p>
            <a:fld id="{3018DE2B-BE50-43C2-B1ED-FB9747B1FB4D}" type="slidenum">
              <a:rPr lang="en-IN" smtClean="0"/>
              <a:t>3</a:t>
            </a:fld>
            <a:endParaRPr lang="en-IN"/>
          </a:p>
        </p:txBody>
      </p:sp>
    </p:spTree>
    <p:extLst>
      <p:ext uri="{BB962C8B-B14F-4D97-AF65-F5344CB8AC3E}">
        <p14:creationId xmlns:p14="http://schemas.microsoft.com/office/powerpoint/2010/main" val="2686543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10136-8E44-52A1-0A4A-B183471F1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DC623-2572-0543-4527-F17DBEAE0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A838B-DA40-83BC-CCDF-17A3820FEB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89FC8C-CB3C-3905-5C25-EDF89456070C}"/>
              </a:ext>
            </a:extLst>
          </p:cNvPr>
          <p:cNvSpPr>
            <a:spLocks noGrp="1"/>
          </p:cNvSpPr>
          <p:nvPr>
            <p:ph type="sldNum" sz="quarter" idx="5"/>
          </p:nvPr>
        </p:nvSpPr>
        <p:spPr/>
        <p:txBody>
          <a:bodyPr/>
          <a:lstStyle/>
          <a:p>
            <a:fld id="{3018DE2B-BE50-43C2-B1ED-FB9747B1FB4D}" type="slidenum">
              <a:rPr lang="en-IN" smtClean="0"/>
              <a:t>4</a:t>
            </a:fld>
            <a:endParaRPr lang="en-IN"/>
          </a:p>
        </p:txBody>
      </p:sp>
    </p:spTree>
    <p:extLst>
      <p:ext uri="{BB962C8B-B14F-4D97-AF65-F5344CB8AC3E}">
        <p14:creationId xmlns:p14="http://schemas.microsoft.com/office/powerpoint/2010/main" val="3148141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737F-F6C4-0FC2-805B-A105971FC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D69E8-E769-201E-2594-29C01028C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C148B-0989-CD1E-9913-B721909591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0C8C57-814E-15B7-6D0B-EDDE25FA8E3F}"/>
              </a:ext>
            </a:extLst>
          </p:cNvPr>
          <p:cNvSpPr>
            <a:spLocks noGrp="1"/>
          </p:cNvSpPr>
          <p:nvPr>
            <p:ph type="sldNum" sz="quarter" idx="5"/>
          </p:nvPr>
        </p:nvSpPr>
        <p:spPr/>
        <p:txBody>
          <a:bodyPr/>
          <a:lstStyle/>
          <a:p>
            <a:fld id="{3018DE2B-BE50-43C2-B1ED-FB9747B1FB4D}" type="slidenum">
              <a:rPr lang="en-IN" smtClean="0"/>
              <a:t>5</a:t>
            </a:fld>
            <a:endParaRPr lang="en-IN"/>
          </a:p>
        </p:txBody>
      </p:sp>
    </p:spTree>
    <p:extLst>
      <p:ext uri="{BB962C8B-B14F-4D97-AF65-F5344CB8AC3E}">
        <p14:creationId xmlns:p14="http://schemas.microsoft.com/office/powerpoint/2010/main" val="3189944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18DE2B-BE50-43C2-B1ED-FB9747B1FB4D}" type="slidenum">
              <a:rPr lang="en-IN" smtClean="0"/>
              <a:t>19</a:t>
            </a:fld>
            <a:endParaRPr lang="en-IN"/>
          </a:p>
        </p:txBody>
      </p:sp>
    </p:spTree>
    <p:extLst>
      <p:ext uri="{BB962C8B-B14F-4D97-AF65-F5344CB8AC3E}">
        <p14:creationId xmlns:p14="http://schemas.microsoft.com/office/powerpoint/2010/main" val="4270663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18DE2B-BE50-43C2-B1ED-FB9747B1FB4D}" type="slidenum">
              <a:rPr lang="en-IN" smtClean="0"/>
              <a:t>20</a:t>
            </a:fld>
            <a:endParaRPr lang="en-IN"/>
          </a:p>
        </p:txBody>
      </p:sp>
    </p:spTree>
    <p:extLst>
      <p:ext uri="{BB962C8B-B14F-4D97-AF65-F5344CB8AC3E}">
        <p14:creationId xmlns:p14="http://schemas.microsoft.com/office/powerpoint/2010/main" val="3119678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18DE2B-BE50-43C2-B1ED-FB9747B1FB4D}" type="slidenum">
              <a:rPr lang="en-IN" smtClean="0"/>
              <a:t>21</a:t>
            </a:fld>
            <a:endParaRPr lang="en-IN"/>
          </a:p>
        </p:txBody>
      </p:sp>
    </p:spTree>
    <p:extLst>
      <p:ext uri="{BB962C8B-B14F-4D97-AF65-F5344CB8AC3E}">
        <p14:creationId xmlns:p14="http://schemas.microsoft.com/office/powerpoint/2010/main" val="611733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99AA-815C-5D8F-E7C1-45CF69C53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793E7-09D6-3A8F-3164-D109F3E9E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2367A-8D30-0118-CC20-29BA1342E0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632DFB-ACBC-95B3-77A9-3012E279F858}"/>
              </a:ext>
            </a:extLst>
          </p:cNvPr>
          <p:cNvSpPr>
            <a:spLocks noGrp="1"/>
          </p:cNvSpPr>
          <p:nvPr>
            <p:ph type="sldNum" sz="quarter" idx="5"/>
          </p:nvPr>
        </p:nvSpPr>
        <p:spPr/>
        <p:txBody>
          <a:bodyPr/>
          <a:lstStyle/>
          <a:p>
            <a:fld id="{3018DE2B-BE50-43C2-B1ED-FB9747B1FB4D}" type="slidenum">
              <a:rPr lang="en-IN" smtClean="0"/>
              <a:t>23</a:t>
            </a:fld>
            <a:endParaRPr lang="en-IN"/>
          </a:p>
        </p:txBody>
      </p:sp>
    </p:spTree>
    <p:extLst>
      <p:ext uri="{BB962C8B-B14F-4D97-AF65-F5344CB8AC3E}">
        <p14:creationId xmlns:p14="http://schemas.microsoft.com/office/powerpoint/2010/main" val="2792999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9860-9BD8-718B-3977-3DE0CFF1B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0FC7B-5946-1DB4-BF6C-F0DC5B2EC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D43ED-41F6-A94B-1FCB-6C88C06FA4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76B93B-020C-318D-8251-FAD9775D1C68}"/>
              </a:ext>
            </a:extLst>
          </p:cNvPr>
          <p:cNvSpPr>
            <a:spLocks noGrp="1"/>
          </p:cNvSpPr>
          <p:nvPr>
            <p:ph type="sldNum" sz="quarter" idx="5"/>
          </p:nvPr>
        </p:nvSpPr>
        <p:spPr/>
        <p:txBody>
          <a:bodyPr/>
          <a:lstStyle/>
          <a:p>
            <a:fld id="{3018DE2B-BE50-43C2-B1ED-FB9747B1FB4D}" type="slidenum">
              <a:rPr lang="en-IN" smtClean="0"/>
              <a:t>24</a:t>
            </a:fld>
            <a:endParaRPr lang="en-IN"/>
          </a:p>
        </p:txBody>
      </p:sp>
    </p:spTree>
    <p:extLst>
      <p:ext uri="{BB962C8B-B14F-4D97-AF65-F5344CB8AC3E}">
        <p14:creationId xmlns:p14="http://schemas.microsoft.com/office/powerpoint/2010/main" val="250043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EC9A3-6EF2-DD8E-3402-15AA54BAD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6A86D-84E6-431F-8954-E13273A9A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E8A7B-0928-7D8F-F38E-436DC48125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76197E-5B27-811C-69A0-CDC796D5558D}"/>
              </a:ext>
            </a:extLst>
          </p:cNvPr>
          <p:cNvSpPr>
            <a:spLocks noGrp="1"/>
          </p:cNvSpPr>
          <p:nvPr>
            <p:ph type="sldNum" sz="quarter" idx="5"/>
          </p:nvPr>
        </p:nvSpPr>
        <p:spPr/>
        <p:txBody>
          <a:bodyPr/>
          <a:lstStyle/>
          <a:p>
            <a:fld id="{3018DE2B-BE50-43C2-B1ED-FB9747B1FB4D}" type="slidenum">
              <a:rPr lang="en-IN" smtClean="0"/>
              <a:t>25</a:t>
            </a:fld>
            <a:endParaRPr lang="en-IN"/>
          </a:p>
        </p:txBody>
      </p:sp>
    </p:spTree>
    <p:extLst>
      <p:ext uri="{BB962C8B-B14F-4D97-AF65-F5344CB8AC3E}">
        <p14:creationId xmlns:p14="http://schemas.microsoft.com/office/powerpoint/2010/main" val="2532903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EE8CF-A930-1289-0346-F62D8C6573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CFAD0F-792D-121C-82FD-67037AC8DF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4C8C7C-0D00-3D0D-C30B-6002BB72629C}"/>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0E76B689-BB9A-B2B9-3DDD-38F9EF2159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03110-C1A7-1CF0-54C8-C8AB78FC6621}"/>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265715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BEC28-2049-3941-77E2-8DD4F401BC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54ADA7-9443-41DC-5A41-D7F9DA0FDA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8F261A-588F-138E-8F69-87165CFEF68A}"/>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7AD4A957-7C32-08A0-915B-C302F5D9E3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E6820-5151-F3F2-60FA-020796D8D55F}"/>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3208854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CFAB3-26BE-11DC-AD08-BACF567CA1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A9B083-D8D4-7AAC-C010-8EC4A77623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EEBCAA-11B3-8355-62AA-FF9167C3E49D}"/>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47D9860E-64CE-80D2-D8FE-785D9B0854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C8DA19-1185-62F7-11F7-E825B1262616}"/>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358145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A82BF-968D-BDD3-6ECC-C672FE9D31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59425B-244D-9C37-AFFB-C9CB88AC13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79CFB0-4955-EC2D-30E7-FC86F2CD4E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214B2CD-2630-C604-2B92-71A61C6D40B5}"/>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6" name="Footer Placeholder 5">
            <a:extLst>
              <a:ext uri="{FF2B5EF4-FFF2-40B4-BE49-F238E27FC236}">
                <a16:creationId xmlns:a16="http://schemas.microsoft.com/office/drawing/2014/main" id="{9DE9DD22-D949-6EB3-6F81-6476A6335D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7E83CF-8B2F-F9D8-F5C2-D8838A93C1D0}"/>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774990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FCFF-5CD5-41D2-2867-2A6EA0DA83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FB36F5-E01F-5B6C-1286-B364057782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3EE870-8D15-47F9-AF93-81CC8D7FF8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A656FB-8CB0-FC73-8A8B-B68E504E24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A9F58A-0FEC-0147-6D17-D421F28512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3D1897-C416-A878-1299-A49EA18C5C90}"/>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8" name="Footer Placeholder 7">
            <a:extLst>
              <a:ext uri="{FF2B5EF4-FFF2-40B4-BE49-F238E27FC236}">
                <a16:creationId xmlns:a16="http://schemas.microsoft.com/office/drawing/2014/main" id="{BE073D8D-0A5A-5253-6DDE-08FA34A10A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668A53-9449-1693-3148-7347E3304D89}"/>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497361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6D07-915F-485E-1760-3861A359DF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D434FD-A341-B28D-31DB-A90E093205D7}"/>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4" name="Footer Placeholder 3">
            <a:extLst>
              <a:ext uri="{FF2B5EF4-FFF2-40B4-BE49-F238E27FC236}">
                <a16:creationId xmlns:a16="http://schemas.microsoft.com/office/drawing/2014/main" id="{856CB0E8-6B6A-A68C-7412-7CAE1A7A1A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F5005E-D2C0-DA67-B716-79A2DA8C17F9}"/>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849215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9B8E7B-753A-6561-6C22-68883A70D52C}"/>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3" name="Footer Placeholder 2">
            <a:extLst>
              <a:ext uri="{FF2B5EF4-FFF2-40B4-BE49-F238E27FC236}">
                <a16:creationId xmlns:a16="http://schemas.microsoft.com/office/drawing/2014/main" id="{BF928C2A-F0BA-B330-AC84-7F058ECB45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211316-7B02-3ABC-9AB7-B03811A48368}"/>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987662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B899-4182-605E-0C52-D42D5CA01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C30E65-5215-243A-8C05-2A1912613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F7F362-7ACF-C5A5-5C00-BA20A02771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BF326F-7B38-C58E-9AF6-49ABA2A63068}"/>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6" name="Footer Placeholder 5">
            <a:extLst>
              <a:ext uri="{FF2B5EF4-FFF2-40B4-BE49-F238E27FC236}">
                <a16:creationId xmlns:a16="http://schemas.microsoft.com/office/drawing/2014/main" id="{72ACDC9D-5A58-EE63-56B5-67F4F05A94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44B28-A684-18ED-B4BD-A64DC289CBF7}"/>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1351632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1CDD-319D-4BCC-8B92-71F02355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27F08E-7240-E159-539B-8F9558338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97DA1D-C680-C4E5-AD1C-C78ADA38B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8C8AB-78DC-F222-6961-8C45FDA0DFF4}"/>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6" name="Footer Placeholder 5">
            <a:extLst>
              <a:ext uri="{FF2B5EF4-FFF2-40B4-BE49-F238E27FC236}">
                <a16:creationId xmlns:a16="http://schemas.microsoft.com/office/drawing/2014/main" id="{A2B9C482-F4FB-8FB9-ADEB-5C8A88A4FE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2E401-E586-0216-1D43-4753913A2E9B}"/>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454928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60B7-F2C6-966F-5BEB-22C0D84F67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AB6390-91B1-C689-BBC2-FF12EF54D9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66DE82-5215-4DB5-AEF6-81E98446C780}"/>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8D4B1E2B-CCC0-6411-D81A-64CCDF94CD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E24E7-0E13-503A-5A7A-5EE6C2624FDA}"/>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2079636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95BED4-2925-5159-D0CE-B1DD9A2868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3F7281-F720-1ABF-70C7-6E3E87A26D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6B71FE-9138-D449-FC96-4355E0D371CE}"/>
              </a:ext>
            </a:extLst>
          </p:cNvPr>
          <p:cNvSpPr>
            <a:spLocks noGrp="1"/>
          </p:cNvSpPr>
          <p:nvPr>
            <p:ph type="dt" sz="half" idx="10"/>
          </p:nvPr>
        </p:nvSpPr>
        <p:spPr/>
        <p:txBody>
          <a:body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08F48C3A-E2A1-77DE-5389-8FF03EE65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C7B24-EE6D-A57A-1E8E-41DB4F9628E8}"/>
              </a:ext>
            </a:extLst>
          </p:cNvPr>
          <p:cNvSpPr>
            <a:spLocks noGrp="1"/>
          </p:cNvSpPr>
          <p:nvPr>
            <p:ph type="sldNum" sz="quarter" idx="12"/>
          </p:nvPr>
        </p:nvSpPr>
        <p:spPr/>
        <p:txBody>
          <a:bodyPr/>
          <a:lstStyle/>
          <a:p>
            <a:fld id="{FB913A41-3353-408B-8FA6-14A5980F75A2}" type="slidenum">
              <a:rPr lang="en-IN" smtClean="0"/>
              <a:t>‹#›</a:t>
            </a:fld>
            <a:endParaRPr lang="en-IN"/>
          </a:p>
        </p:txBody>
      </p:sp>
    </p:spTree>
    <p:extLst>
      <p:ext uri="{BB962C8B-B14F-4D97-AF65-F5344CB8AC3E}">
        <p14:creationId xmlns:p14="http://schemas.microsoft.com/office/powerpoint/2010/main" val="89149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609524-1A4D-BE9E-861D-838B58436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933F2E-95FA-0744-D58F-8AEA92BAF0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EC5ED-4899-FA92-8B26-1293631A9C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A8C2A3-3683-4DFA-A9BF-140ED0A5DBB9}" type="datetimeFigureOut">
              <a:rPr lang="en-IN" smtClean="0"/>
              <a:t>13-12-2025</a:t>
            </a:fld>
            <a:endParaRPr lang="en-IN"/>
          </a:p>
        </p:txBody>
      </p:sp>
      <p:sp>
        <p:nvSpPr>
          <p:cNvPr id="5" name="Footer Placeholder 4">
            <a:extLst>
              <a:ext uri="{FF2B5EF4-FFF2-40B4-BE49-F238E27FC236}">
                <a16:creationId xmlns:a16="http://schemas.microsoft.com/office/drawing/2014/main" id="{59956AA4-0100-7F99-E1A6-DB5E273E1E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7F3B7F4-9DB1-619F-6B38-5B9014A407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913A41-3353-408B-8FA6-14A5980F75A2}" type="slidenum">
              <a:rPr lang="en-IN" smtClean="0"/>
              <a:t>‹#›</a:t>
            </a:fld>
            <a:endParaRPr lang="en-IN"/>
          </a:p>
        </p:txBody>
      </p:sp>
    </p:spTree>
    <p:extLst>
      <p:ext uri="{BB962C8B-B14F-4D97-AF65-F5344CB8AC3E}">
        <p14:creationId xmlns:p14="http://schemas.microsoft.com/office/powerpoint/2010/main" val="213059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3EBA71-0E1F-7F07-DDDE-31C74F3FAE02}"/>
              </a:ext>
            </a:extLst>
          </p:cNvPr>
          <p:cNvSpPr/>
          <p:nvPr/>
        </p:nvSpPr>
        <p:spPr>
          <a:xfrm>
            <a:off x="0" y="0"/>
            <a:ext cx="12192000"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E5AFF7E-7A9D-674F-916C-5FAA97440B10}"/>
              </a:ext>
            </a:extLst>
          </p:cNvPr>
          <p:cNvSpPr>
            <a:spLocks noGrp="1"/>
          </p:cNvSpPr>
          <p:nvPr>
            <p:ph type="ctrTitle"/>
          </p:nvPr>
        </p:nvSpPr>
        <p:spPr>
          <a:xfrm>
            <a:off x="1524000" y="1896533"/>
            <a:ext cx="9144000" cy="2032000"/>
          </a:xfrm>
        </p:spPr>
        <p:txBody>
          <a:bodyPr>
            <a:normAutofit/>
          </a:bodyPr>
          <a:lstStyle/>
          <a:p>
            <a:pPr algn="l"/>
            <a:r>
              <a:rPr lang="en-IN" sz="6600" b="1" dirty="0">
                <a:solidFill>
                  <a:schemeClr val="bg1"/>
                </a:solidFill>
                <a:latin typeface="Noto Sans SC Black" panose="020B0200000000000000" pitchFamily="34" charset="-128"/>
                <a:ea typeface="Noto Sans SC Black" panose="020B0200000000000000" pitchFamily="34" charset="-128"/>
              </a:rPr>
              <a:t>Bank CRM Analysis</a:t>
            </a:r>
            <a:endParaRPr lang="en-IN" sz="6600" dirty="0">
              <a:solidFill>
                <a:schemeClr val="bg1"/>
              </a:solidFill>
              <a:latin typeface="Noto Sans SC Black" panose="020B0200000000000000" pitchFamily="34" charset="-128"/>
              <a:ea typeface="Noto Sans SC Black" panose="020B0200000000000000" pitchFamily="34" charset="-128"/>
            </a:endParaRPr>
          </a:p>
        </p:txBody>
      </p:sp>
      <p:sp>
        <p:nvSpPr>
          <p:cNvPr id="3" name="Subtitle 2">
            <a:extLst>
              <a:ext uri="{FF2B5EF4-FFF2-40B4-BE49-F238E27FC236}">
                <a16:creationId xmlns:a16="http://schemas.microsoft.com/office/drawing/2014/main" id="{DEDF5610-46D5-1C34-B090-E290F6F767C4}"/>
              </a:ext>
            </a:extLst>
          </p:cNvPr>
          <p:cNvSpPr>
            <a:spLocks noGrp="1"/>
          </p:cNvSpPr>
          <p:nvPr>
            <p:ph type="subTitle" idx="1"/>
          </p:nvPr>
        </p:nvSpPr>
        <p:spPr>
          <a:xfrm>
            <a:off x="1524000" y="4368799"/>
            <a:ext cx="9144000" cy="1041399"/>
          </a:xfrm>
        </p:spPr>
        <p:txBody>
          <a:bodyPr>
            <a:normAutofit/>
          </a:bodyPr>
          <a:lstStyle/>
          <a:p>
            <a:pPr algn="l"/>
            <a:r>
              <a:rPr lang="en-US" sz="1600"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Power BI Project By </a:t>
            </a:r>
            <a:r>
              <a:rPr lang="en-US" sz="1600" b="1"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 Nidhi Roy</a:t>
            </a:r>
            <a:endParaRPr lang="en-US" sz="1600" b="1" dirty="0">
              <a:solidFill>
                <a:schemeClr val="bg1">
                  <a:lumMod val="95000"/>
                </a:schemeClr>
              </a:solidFill>
              <a:effectLst/>
              <a:latin typeface="Segoe UI Historic" panose="020B0502040204020203" pitchFamily="34" charset="0"/>
              <a:ea typeface="Segoe UI Historic" panose="020B0502040204020203" pitchFamily="34" charset="0"/>
              <a:cs typeface="Segoe UI Historic" panose="020B0502040204020203" pitchFamily="34" charset="0"/>
            </a:endParaRPr>
          </a:p>
          <a:p>
            <a:pPr algn="l"/>
            <a:r>
              <a:rPr lang="en-US" sz="1600"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Tools Used – </a:t>
            </a:r>
            <a:r>
              <a:rPr lang="en-US" sz="1600" b="1"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Power BI Desktop, MySQL Workbench, MS-Office</a:t>
            </a:r>
            <a:endParaRPr lang="en-US" sz="1600" b="1" dirty="0">
              <a:solidFill>
                <a:schemeClr val="bg1">
                  <a:lumMod val="95000"/>
                </a:schemeClr>
              </a:solidFill>
              <a:effectLst/>
              <a:latin typeface="Segoe UI Historic" panose="020B0502040204020203" pitchFamily="34" charset="0"/>
              <a:ea typeface="Segoe UI Historic" panose="020B0502040204020203" pitchFamily="34" charset="0"/>
              <a:cs typeface="Segoe UI Historic" panose="020B0502040204020203" pitchFamily="34" charset="0"/>
            </a:endParaRPr>
          </a:p>
          <a:p>
            <a:pPr algn="l"/>
            <a:r>
              <a:rPr lang="en-US" sz="1600"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Platform – </a:t>
            </a:r>
            <a:r>
              <a:rPr lang="en-US" sz="1600" b="1"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rPr>
              <a:t>Newton School</a:t>
            </a:r>
            <a:endParaRPr lang="en-IN" sz="1600" b="1" dirty="0">
              <a:solidFill>
                <a:schemeClr val="bg1">
                  <a:lumMod val="9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p:txBody>
      </p:sp>
      <p:pic>
        <p:nvPicPr>
          <p:cNvPr id="7" name="Picture 6" descr="A black background with a black square&#10;&#10;AI-generated content may be incorrect.">
            <a:extLst>
              <a:ext uri="{FF2B5EF4-FFF2-40B4-BE49-F238E27FC236}">
                <a16:creationId xmlns:a16="http://schemas.microsoft.com/office/drawing/2014/main" id="{C25ACBF9-710A-7294-5337-51A120450123}"/>
              </a:ext>
            </a:extLst>
          </p:cNvPr>
          <p:cNvPicPr>
            <a:picLocks noChangeAspect="1"/>
          </p:cNvPicPr>
          <p:nvPr/>
        </p:nvPicPr>
        <p:blipFill>
          <a:blip r:embed="rId2">
            <a:lum bright="70000" contrast="-70000"/>
            <a:alphaModFix amt="50000"/>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1583268" y="1227330"/>
            <a:ext cx="1134873" cy="1134873"/>
          </a:xfrm>
          <a:prstGeom prst="rect">
            <a:avLst/>
          </a:prstGeom>
        </p:spPr>
      </p:pic>
    </p:spTree>
    <p:extLst>
      <p:ext uri="{BB962C8B-B14F-4D97-AF65-F5344CB8AC3E}">
        <p14:creationId xmlns:p14="http://schemas.microsoft.com/office/powerpoint/2010/main" val="2057821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93EA9F-0B8F-4F65-009F-82336A29F11D}"/>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C9750C37-215E-EE59-9D2C-D1D8467AE047}"/>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B6EC1910-AB44-C5CB-C5E9-83388815B7D7}"/>
              </a:ext>
            </a:extLst>
          </p:cNvPr>
          <p:cNvSpPr/>
          <p:nvPr/>
        </p:nvSpPr>
        <p:spPr>
          <a:xfrm>
            <a:off x="982132" y="0"/>
            <a:ext cx="3716867"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solidFill>
                  <a:schemeClr val="bg1"/>
                </a:solidFill>
                <a:latin typeface="Noto Sans SC Black" panose="020B0200000000000000" pitchFamily="34" charset="-128"/>
                <a:ea typeface="Noto Sans SC Black" panose="020B0200000000000000" pitchFamily="34" charset="-128"/>
              </a:rPr>
              <a:t>Table of </a:t>
            </a:r>
          </a:p>
          <a:p>
            <a:r>
              <a:rPr lang="en-IN" sz="4400" b="1" dirty="0">
                <a:solidFill>
                  <a:schemeClr val="bg1"/>
                </a:solidFill>
                <a:latin typeface="Noto Sans SC Black" panose="020B0200000000000000" pitchFamily="34" charset="-128"/>
                <a:ea typeface="Noto Sans SC Black" panose="020B0200000000000000" pitchFamily="34" charset="-128"/>
              </a:rPr>
              <a:t>Content</a:t>
            </a:r>
            <a:endParaRPr lang="en-IN" dirty="0">
              <a:solidFill>
                <a:schemeClr val="bg1"/>
              </a:solidFill>
              <a:latin typeface="Noto Sans SC Black" panose="020B0200000000000000" pitchFamily="34" charset="-128"/>
              <a:ea typeface="Noto Sans SC Black" panose="020B0200000000000000" pitchFamily="34" charset="-128"/>
            </a:endParaRPr>
          </a:p>
        </p:txBody>
      </p:sp>
      <p:sp>
        <p:nvSpPr>
          <p:cNvPr id="5" name="Rectangle 4">
            <a:extLst>
              <a:ext uri="{FF2B5EF4-FFF2-40B4-BE49-F238E27FC236}">
                <a16:creationId xmlns:a16="http://schemas.microsoft.com/office/drawing/2014/main" id="{09583F19-2A7C-0841-33FB-AA0D23864BF2}"/>
              </a:ext>
            </a:extLst>
          </p:cNvPr>
          <p:cNvSpPr/>
          <p:nvPr/>
        </p:nvSpPr>
        <p:spPr>
          <a:xfrm>
            <a:off x="6815669" y="1062334"/>
            <a:ext cx="4495798" cy="4247317"/>
          </a:xfrm>
          <a:prstGeom prst="rect">
            <a:avLst/>
          </a:prstGeom>
          <a:noFill/>
        </p:spPr>
        <p:txBody>
          <a:bodyPr wrap="square" lIns="91440" tIns="45720" rIns="91440" bIns="45720" anchor="ctr">
            <a:spAutoFit/>
          </a:bodyPr>
          <a:lstStyle/>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Introduction</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Problem Statement</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Data Overview (Schema)</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Metrics and their Insights</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Dashboard Snippets</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Challenges Faced</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Conclusion</a:t>
            </a:r>
          </a:p>
          <a:p>
            <a:pPr marL="285750" indent="-285750" fontAlgn="base">
              <a:buFont typeface="Wingdings" panose="05000000000000000000" pitchFamily="2" charset="2"/>
              <a:buChar char="§"/>
            </a:pPr>
            <a:endPar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buFont typeface="Wingdings" panose="05000000000000000000" pitchFamily="2" charset="2"/>
              <a:buChar char="§"/>
            </a:pPr>
            <a:r>
              <a:rPr lang="en-US"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Recommendations</a:t>
            </a:r>
          </a:p>
        </p:txBody>
      </p:sp>
    </p:spTree>
    <p:extLst>
      <p:ext uri="{BB962C8B-B14F-4D97-AF65-F5344CB8AC3E}">
        <p14:creationId xmlns:p14="http://schemas.microsoft.com/office/powerpoint/2010/main" val="176600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9FC6F-4A8E-9BEE-BD54-F5C1CDCB0B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CA7484-FFE5-B3E3-0746-6DBCFFDCBD46}"/>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21E25D5C-CDCD-0080-ECD5-A8A17732DF62}"/>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CC1AA15D-BCA3-3BBB-5AFD-423166E590DB}"/>
              </a:ext>
            </a:extLst>
          </p:cNvPr>
          <p:cNvSpPr/>
          <p:nvPr/>
        </p:nvSpPr>
        <p:spPr>
          <a:xfrm>
            <a:off x="758758" y="0"/>
            <a:ext cx="3949430"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solidFill>
                  <a:schemeClr val="bg1"/>
                </a:solidFill>
                <a:latin typeface="Noto Sans SC Black" panose="020B0200000000000000" pitchFamily="34" charset="-128"/>
                <a:ea typeface="Noto Sans SC Black" panose="020B0200000000000000" pitchFamily="34" charset="-128"/>
              </a:rPr>
              <a:t>Introduction</a:t>
            </a:r>
            <a:endParaRPr lang="en-IN" dirty="0">
              <a:solidFill>
                <a:schemeClr val="bg1"/>
              </a:solidFill>
              <a:latin typeface="Noto Sans SC Black" panose="020B0200000000000000" pitchFamily="34" charset="-128"/>
              <a:ea typeface="Noto Sans SC Black" panose="020B0200000000000000" pitchFamily="34" charset="-128"/>
            </a:endParaRPr>
          </a:p>
        </p:txBody>
      </p:sp>
      <p:sp>
        <p:nvSpPr>
          <p:cNvPr id="5" name="Rectangle 4">
            <a:extLst>
              <a:ext uri="{FF2B5EF4-FFF2-40B4-BE49-F238E27FC236}">
                <a16:creationId xmlns:a16="http://schemas.microsoft.com/office/drawing/2014/main" id="{C32D3708-A6D9-3918-36C5-AAB3F2F33519}"/>
              </a:ext>
            </a:extLst>
          </p:cNvPr>
          <p:cNvSpPr/>
          <p:nvPr/>
        </p:nvSpPr>
        <p:spPr>
          <a:xfrm>
            <a:off x="6096000" y="616488"/>
            <a:ext cx="5460460" cy="5586466"/>
          </a:xfrm>
          <a:prstGeom prst="rect">
            <a:avLst/>
          </a:prstGeom>
          <a:noFill/>
        </p:spPr>
        <p:txBody>
          <a:bodyPr wrap="square" lIns="91440" tIns="45720" rIns="91440" bIns="45720" anchor="ctr">
            <a:spAutoFit/>
          </a:bodyPr>
          <a:lstStyle/>
          <a:p>
            <a:pPr>
              <a:lnSpc>
                <a:spcPct val="150000"/>
              </a:lnSpc>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Welcome to this presentation on Customer Relationship Management within the banking sector. In my role as the bank’s Analytical CRM Specialist, I’ve undertaken a comprehensive review of multiple customer datasets to identify actionable insights that can reduce churn, enhance service quality, and elevate overall customer satisfaction. </a:t>
            </a:r>
          </a:p>
          <a:p>
            <a:pPr>
              <a:lnSpc>
                <a:spcPct val="150000"/>
              </a:lnSpc>
            </a:pPr>
            <a:endPar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endParaRPr>
          </a:p>
          <a:p>
            <a:pPr>
              <a:lnSpc>
                <a:spcPct val="150000"/>
              </a:lnSpc>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In the following sections, we’ll walk through key customer demographics, transaction behaviors, exit patterns, and active account profiles. The objective is clear: leverage data-driven intelligence to support strategic decision-making and strengthen long-term customer engagement. Let’s begin our deep dive and explore how smart analytics can transform customer retention and satisfaction across the bank.</a:t>
            </a:r>
          </a:p>
        </p:txBody>
      </p:sp>
    </p:spTree>
    <p:extLst>
      <p:ext uri="{BB962C8B-B14F-4D97-AF65-F5344CB8AC3E}">
        <p14:creationId xmlns:p14="http://schemas.microsoft.com/office/powerpoint/2010/main" val="344179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E9FFF-8EAA-97D6-02D2-874754942B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E7E31C-850F-0F77-0419-5FF58384714E}"/>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7642F725-8032-4BD7-6880-797FF09C9CA3}"/>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17B36C45-560C-74B7-F9BB-7DA131E8CA55}"/>
              </a:ext>
            </a:extLst>
          </p:cNvPr>
          <p:cNvSpPr/>
          <p:nvPr/>
        </p:nvSpPr>
        <p:spPr>
          <a:xfrm>
            <a:off x="758758" y="0"/>
            <a:ext cx="3949430"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latin typeface="Noto Sans SC Black" panose="020B0200000000000000" pitchFamily="34" charset="-128"/>
                <a:ea typeface="Noto Sans SC Black" panose="020B0200000000000000" pitchFamily="34" charset="-128"/>
              </a:rPr>
              <a:t>Problem Statement</a:t>
            </a:r>
            <a:endParaRPr lang="en-IN" sz="4400" dirty="0">
              <a:latin typeface="Noto Sans SC Black" panose="020B0200000000000000" pitchFamily="34" charset="-128"/>
              <a:ea typeface="Noto Sans SC Black" panose="020B0200000000000000" pitchFamily="34" charset="-128"/>
            </a:endParaRPr>
          </a:p>
        </p:txBody>
      </p:sp>
      <p:sp>
        <p:nvSpPr>
          <p:cNvPr id="5" name="Rectangle 4">
            <a:extLst>
              <a:ext uri="{FF2B5EF4-FFF2-40B4-BE49-F238E27FC236}">
                <a16:creationId xmlns:a16="http://schemas.microsoft.com/office/drawing/2014/main" id="{2AB3E4AF-16B3-5492-D163-1C5864618F99}"/>
              </a:ext>
            </a:extLst>
          </p:cNvPr>
          <p:cNvSpPr/>
          <p:nvPr/>
        </p:nvSpPr>
        <p:spPr>
          <a:xfrm>
            <a:off x="6096000" y="1934294"/>
            <a:ext cx="5460460" cy="3009222"/>
          </a:xfrm>
          <a:prstGeom prst="rect">
            <a:avLst/>
          </a:prstGeom>
          <a:noFill/>
        </p:spPr>
        <p:txBody>
          <a:bodyPr wrap="square" lIns="91440" tIns="45720" rIns="91440" bIns="45720" anchor="ctr">
            <a:spAutoFit/>
          </a:bodyPr>
          <a:lstStyle/>
          <a:p>
            <a:pPr>
              <a:lnSpc>
                <a:spcPct val="150000"/>
              </a:lnSpc>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You are an analytical CRM (Customer Relationship Management) specialist hired by a bank to extract meaningful insights from various customer- related datasets. The bank aims to reduce customer churn, improve service delivery, and enhance customer satisfaction. They have provided you with datasets including customer demographics, transaction details, customer exit information, and active customer profiles.</a:t>
            </a:r>
          </a:p>
        </p:txBody>
      </p:sp>
    </p:spTree>
    <p:extLst>
      <p:ext uri="{BB962C8B-B14F-4D97-AF65-F5344CB8AC3E}">
        <p14:creationId xmlns:p14="http://schemas.microsoft.com/office/powerpoint/2010/main" val="253981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194C-2D7B-901C-03DE-BB3DC4239A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B05B80-0784-FF0E-7622-5BF7D69960D4}"/>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B612F7F7-0C73-8609-F85F-5011C9CB55BB}"/>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1BA6CCBC-A66D-F73D-466E-24D6036804F1}"/>
              </a:ext>
            </a:extLst>
          </p:cNvPr>
          <p:cNvSpPr/>
          <p:nvPr/>
        </p:nvSpPr>
        <p:spPr>
          <a:xfrm>
            <a:off x="758758" y="0"/>
            <a:ext cx="3949430"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solidFill>
                  <a:schemeClr val="bg1"/>
                </a:solidFill>
                <a:latin typeface="Noto Sans SC Black" panose="020B0200000000000000" pitchFamily="34" charset="-128"/>
                <a:ea typeface="Noto Sans SC Black" panose="020B0200000000000000" pitchFamily="34" charset="-128"/>
              </a:rPr>
              <a:t>Data Overview (Schema)</a:t>
            </a:r>
          </a:p>
        </p:txBody>
      </p:sp>
      <p:pic>
        <p:nvPicPr>
          <p:cNvPr id="6" name="Picture 2" descr="A diagram of a company&#10;&#10;Description automatically generated with medium confidence">
            <a:extLst>
              <a:ext uri="{FF2B5EF4-FFF2-40B4-BE49-F238E27FC236}">
                <a16:creationId xmlns:a16="http://schemas.microsoft.com/office/drawing/2014/main" id="{A82F0638-621D-6B68-2522-D924A98D4CBC}"/>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135091" y="1592855"/>
            <a:ext cx="5313928" cy="3672290"/>
          </a:xfrm>
          <a:prstGeom prst="rect">
            <a:avLst/>
          </a:prstGeom>
          <a:noFill/>
        </p:spPr>
      </p:pic>
    </p:spTree>
    <p:extLst>
      <p:ext uri="{BB962C8B-B14F-4D97-AF65-F5344CB8AC3E}">
        <p14:creationId xmlns:p14="http://schemas.microsoft.com/office/powerpoint/2010/main" val="3276266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DDD42D-6699-A4E1-7748-FC0E5E01A09E}"/>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62CB8C5-3A31-0242-623D-B3643F3A2B93}"/>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Number of Customers and Churn Rate by Year</a:t>
            </a:r>
            <a:endParaRPr lang="en-IN" sz="3600" dirty="0">
              <a:latin typeface="Noto Sans SC Black" panose="020B0200000000000000" pitchFamily="34" charset="-128"/>
              <a:ea typeface="Noto Sans SC Black" panose="020B0200000000000000" pitchFamily="34" charset="-128"/>
            </a:endParaRPr>
          </a:p>
        </p:txBody>
      </p:sp>
      <p:sp>
        <p:nvSpPr>
          <p:cNvPr id="8" name="TextBox 7">
            <a:extLst>
              <a:ext uri="{FF2B5EF4-FFF2-40B4-BE49-F238E27FC236}">
                <a16:creationId xmlns:a16="http://schemas.microsoft.com/office/drawing/2014/main" id="{5DCC3C31-38E5-C64B-189B-468D65136CC9}"/>
              </a:ext>
            </a:extLst>
          </p:cNvPr>
          <p:cNvSpPr txBox="1"/>
          <p:nvPr/>
        </p:nvSpPr>
        <p:spPr>
          <a:xfrm>
            <a:off x="524933" y="2704291"/>
            <a:ext cx="5389484" cy="3001143"/>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Customer count grew steadily from 2.0K (2016) to 3.3K (2019), indicating strong acquisition.</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Churn rate peaked at 22.4% in 2017 but improved to 19.9% by 2019, reflecting better retention strategies.</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2019 was the most successful year with highest customer gain and lowest churn since 2017.</a:t>
            </a:r>
          </a:p>
        </p:txBody>
      </p:sp>
      <p:pic>
        <p:nvPicPr>
          <p:cNvPr id="10" name="Picture 9">
            <a:extLst>
              <a:ext uri="{FF2B5EF4-FFF2-40B4-BE49-F238E27FC236}">
                <a16:creationId xmlns:a16="http://schemas.microsoft.com/office/drawing/2014/main" id="{1FBEFAAE-48FC-6DF7-E3B2-3522E18A5204}"/>
              </a:ext>
            </a:extLst>
          </p:cNvPr>
          <p:cNvPicPr>
            <a:picLocks noChangeAspect="1"/>
          </p:cNvPicPr>
          <p:nvPr/>
        </p:nvPicPr>
        <p:blipFill>
          <a:blip r:embed="rId2"/>
          <a:stretch>
            <a:fillRect/>
          </a:stretch>
        </p:blipFill>
        <p:spPr>
          <a:xfrm>
            <a:off x="6083300" y="2616739"/>
            <a:ext cx="5763429" cy="3172268"/>
          </a:xfrm>
          <a:prstGeom prst="rect">
            <a:avLst/>
          </a:prstGeom>
        </p:spPr>
      </p:pic>
    </p:spTree>
    <p:extLst>
      <p:ext uri="{BB962C8B-B14F-4D97-AF65-F5344CB8AC3E}">
        <p14:creationId xmlns:p14="http://schemas.microsoft.com/office/powerpoint/2010/main" val="2007693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A370C298-3393-F69F-C06E-BD8CD111B5E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571DA92-9162-60C0-BBC1-53064164ACD8}"/>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88C6223A-24FA-7C85-FE8D-9BF0709F01EB}"/>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Total Balance by </a:t>
            </a:r>
            <a:r>
              <a:rPr lang="en-US" sz="3600" b="1" dirty="0" err="1">
                <a:latin typeface="Noto Sans SC Black" panose="020B0200000000000000" pitchFamily="34" charset="-128"/>
                <a:ea typeface="Noto Sans SC Black" panose="020B0200000000000000" pitchFamily="34" charset="-128"/>
              </a:rPr>
              <a:t>NumOfProducts</a:t>
            </a:r>
            <a:endParaRPr lang="en-US" sz="3600" b="1" dirty="0">
              <a:latin typeface="Noto Sans SC Black" panose="020B0200000000000000" pitchFamily="34" charset="-128"/>
              <a:ea typeface="Noto Sans SC Black" panose="020B0200000000000000" pitchFamily="34" charset="-128"/>
            </a:endParaRPr>
          </a:p>
        </p:txBody>
      </p:sp>
      <p:sp>
        <p:nvSpPr>
          <p:cNvPr id="8" name="TextBox 7">
            <a:extLst>
              <a:ext uri="{FF2B5EF4-FFF2-40B4-BE49-F238E27FC236}">
                <a16:creationId xmlns:a16="http://schemas.microsoft.com/office/drawing/2014/main" id="{CE46768A-ADEA-CDED-EFBE-518C114290CD}"/>
              </a:ext>
            </a:extLst>
          </p:cNvPr>
          <p:cNvSpPr txBox="1"/>
          <p:nvPr/>
        </p:nvSpPr>
        <p:spPr>
          <a:xfrm>
            <a:off x="524933" y="2480558"/>
            <a:ext cx="5571067" cy="3370474"/>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Single-product customers hold the highest balance at ₹501.04M, highlighting their dominant contribution.</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As the number of products increases, total balance significantly decreases, with just ₹5.62M for 4 products.</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This pattern suggests low multi-product adoption, indicating an opportunity for cross-selling and product bundling strategies.</a:t>
            </a:r>
          </a:p>
        </p:txBody>
      </p:sp>
      <p:pic>
        <p:nvPicPr>
          <p:cNvPr id="3" name="Picture 2">
            <a:extLst>
              <a:ext uri="{FF2B5EF4-FFF2-40B4-BE49-F238E27FC236}">
                <a16:creationId xmlns:a16="http://schemas.microsoft.com/office/drawing/2014/main" id="{2A335A22-CD70-9CF9-6A9F-AEDAF98EBA81}"/>
              </a:ext>
            </a:extLst>
          </p:cNvPr>
          <p:cNvPicPr>
            <a:picLocks noChangeAspect="1"/>
          </p:cNvPicPr>
          <p:nvPr/>
        </p:nvPicPr>
        <p:blipFill>
          <a:blip r:embed="rId2"/>
          <a:stretch>
            <a:fillRect/>
          </a:stretch>
        </p:blipFill>
        <p:spPr>
          <a:xfrm>
            <a:off x="6366718" y="2451374"/>
            <a:ext cx="5261437" cy="3547765"/>
          </a:xfrm>
          <a:prstGeom prst="rect">
            <a:avLst/>
          </a:prstGeom>
        </p:spPr>
      </p:pic>
    </p:spTree>
    <p:extLst>
      <p:ext uri="{BB962C8B-B14F-4D97-AF65-F5344CB8AC3E}">
        <p14:creationId xmlns:p14="http://schemas.microsoft.com/office/powerpoint/2010/main" val="4250476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AA6D4DFB-C8E3-5EBA-4969-C4310A89037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781E7B8-4493-D1DC-F7F3-544853963901}"/>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29AB79B2-C9CE-DBAA-B35E-D96EF319D90A}"/>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Number of Customers by Credit Card</a:t>
            </a:r>
          </a:p>
        </p:txBody>
      </p:sp>
      <p:sp>
        <p:nvSpPr>
          <p:cNvPr id="8" name="TextBox 7">
            <a:extLst>
              <a:ext uri="{FF2B5EF4-FFF2-40B4-BE49-F238E27FC236}">
                <a16:creationId xmlns:a16="http://schemas.microsoft.com/office/drawing/2014/main" id="{6DDE5912-24A7-120C-3A2B-3C015DB56CD8}"/>
              </a:ext>
            </a:extLst>
          </p:cNvPr>
          <p:cNvSpPr txBox="1"/>
          <p:nvPr/>
        </p:nvSpPr>
        <p:spPr>
          <a:xfrm>
            <a:off x="524933" y="2140086"/>
            <a:ext cx="5571067" cy="4109138"/>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Majority (70.55%) of customers are credit card holders, showing strong penetration of credit products in the customer base.</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29.45% of customers do not own a credit card, highlighting a potential segment for targeted marketing or product upselling.</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This split suggests a well-established credit card user base, but also an opportunity to boost overall revenue through wider product adoption.</a:t>
            </a:r>
          </a:p>
        </p:txBody>
      </p:sp>
      <p:pic>
        <p:nvPicPr>
          <p:cNvPr id="3" name="Picture 2">
            <a:extLst>
              <a:ext uri="{FF2B5EF4-FFF2-40B4-BE49-F238E27FC236}">
                <a16:creationId xmlns:a16="http://schemas.microsoft.com/office/drawing/2014/main" id="{67FB157B-FBA3-E4B7-36E8-4E6D7B784309}"/>
              </a:ext>
            </a:extLst>
          </p:cNvPr>
          <p:cNvPicPr>
            <a:picLocks noChangeAspect="1"/>
          </p:cNvPicPr>
          <p:nvPr/>
        </p:nvPicPr>
        <p:blipFill>
          <a:blip r:embed="rId2"/>
          <a:stretch>
            <a:fillRect/>
          </a:stretch>
        </p:blipFill>
        <p:spPr>
          <a:xfrm>
            <a:off x="6794644" y="2417775"/>
            <a:ext cx="4847023" cy="3553759"/>
          </a:xfrm>
          <a:prstGeom prst="rect">
            <a:avLst/>
          </a:prstGeom>
        </p:spPr>
      </p:pic>
    </p:spTree>
    <p:extLst>
      <p:ext uri="{BB962C8B-B14F-4D97-AF65-F5344CB8AC3E}">
        <p14:creationId xmlns:p14="http://schemas.microsoft.com/office/powerpoint/2010/main" val="3058494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D6D854F4-7B22-E6E3-4EC9-2EBCF101939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C2C9C9C-7880-0411-BFE2-45383DAF89D2}"/>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24EB5E97-BDB1-191D-57E4-A7EE67580756}"/>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Number of Customers by Year</a:t>
            </a:r>
          </a:p>
        </p:txBody>
      </p:sp>
      <p:sp>
        <p:nvSpPr>
          <p:cNvPr id="8" name="TextBox 7">
            <a:extLst>
              <a:ext uri="{FF2B5EF4-FFF2-40B4-BE49-F238E27FC236}">
                <a16:creationId xmlns:a16="http://schemas.microsoft.com/office/drawing/2014/main" id="{CA8C27D6-65E5-0B02-C28F-C23F40BD9BE0}"/>
              </a:ext>
            </a:extLst>
          </p:cNvPr>
          <p:cNvSpPr txBox="1"/>
          <p:nvPr/>
        </p:nvSpPr>
        <p:spPr>
          <a:xfrm>
            <a:off x="524933" y="2480558"/>
            <a:ext cx="5571067" cy="3370474"/>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Male customers make up 54.57% (5.46K) of the total customer base, forming the slight majority.</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Female customers account for 45.43% (4.54K), reflecting a relatively balanced gender distribution overall.</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The near-equal split allows for gender-neutral marketing strategies or tailored campaigns to improve engagement from both segments.</a:t>
            </a:r>
          </a:p>
        </p:txBody>
      </p:sp>
      <p:pic>
        <p:nvPicPr>
          <p:cNvPr id="4" name="Picture 3">
            <a:extLst>
              <a:ext uri="{FF2B5EF4-FFF2-40B4-BE49-F238E27FC236}">
                <a16:creationId xmlns:a16="http://schemas.microsoft.com/office/drawing/2014/main" id="{4C7D7BF2-9764-4435-48DE-4A465338B625}"/>
              </a:ext>
            </a:extLst>
          </p:cNvPr>
          <p:cNvPicPr>
            <a:picLocks noChangeAspect="1"/>
          </p:cNvPicPr>
          <p:nvPr/>
        </p:nvPicPr>
        <p:blipFill>
          <a:blip r:embed="rId2"/>
          <a:stretch>
            <a:fillRect/>
          </a:stretch>
        </p:blipFill>
        <p:spPr>
          <a:xfrm>
            <a:off x="6955277" y="2494563"/>
            <a:ext cx="4686390" cy="3356469"/>
          </a:xfrm>
          <a:prstGeom prst="rect">
            <a:avLst/>
          </a:prstGeom>
        </p:spPr>
      </p:pic>
    </p:spTree>
    <p:extLst>
      <p:ext uri="{BB962C8B-B14F-4D97-AF65-F5344CB8AC3E}">
        <p14:creationId xmlns:p14="http://schemas.microsoft.com/office/powerpoint/2010/main" val="73304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DDBBA8C3-221A-5CB2-DD3B-A7320444A3B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C39B463-5B91-7256-FA43-AD5ADD9A6D98}"/>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36D17F81-3BEF-7012-A7B3-55A9D350DBE8}"/>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Customers and Churn Rate by Gender and Age</a:t>
            </a:r>
          </a:p>
        </p:txBody>
      </p:sp>
      <p:sp>
        <p:nvSpPr>
          <p:cNvPr id="8" name="TextBox 7">
            <a:extLst>
              <a:ext uri="{FF2B5EF4-FFF2-40B4-BE49-F238E27FC236}">
                <a16:creationId xmlns:a16="http://schemas.microsoft.com/office/drawing/2014/main" id="{D4AE6C59-2459-487E-A107-E932C5657EE9}"/>
              </a:ext>
            </a:extLst>
          </p:cNvPr>
          <p:cNvSpPr txBox="1"/>
          <p:nvPr/>
        </p:nvSpPr>
        <p:spPr>
          <a:xfrm>
            <a:off x="524933" y="2149821"/>
            <a:ext cx="4591816" cy="4109138"/>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Females aged 50+ have the highest churn risk (52.4%), demanding urgent retention strategies.</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Males aged 50+ also show elevated churn (39.2%) despite a small customer base.</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Males aged 30–50 form the largest customer segment (3.8K) with moderate churn (14.6%), making them a key target for growth.</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Younger customers (18–30) of both genders have the lowest churn (5.6%–9.9%), indicating strong loyalty and long-term potential.</a:t>
            </a:r>
          </a:p>
        </p:txBody>
      </p:sp>
      <p:pic>
        <p:nvPicPr>
          <p:cNvPr id="4" name="Picture 3">
            <a:extLst>
              <a:ext uri="{FF2B5EF4-FFF2-40B4-BE49-F238E27FC236}">
                <a16:creationId xmlns:a16="http://schemas.microsoft.com/office/drawing/2014/main" id="{765301B7-1145-CA0E-72DF-21C7A7827F64}"/>
              </a:ext>
            </a:extLst>
          </p:cNvPr>
          <p:cNvPicPr>
            <a:picLocks noChangeAspect="1"/>
          </p:cNvPicPr>
          <p:nvPr/>
        </p:nvPicPr>
        <p:blipFill>
          <a:blip r:embed="rId2"/>
          <a:stretch>
            <a:fillRect/>
          </a:stretch>
        </p:blipFill>
        <p:spPr>
          <a:xfrm>
            <a:off x="5496128" y="2614090"/>
            <a:ext cx="6170939" cy="3077350"/>
          </a:xfrm>
          <a:prstGeom prst="rect">
            <a:avLst/>
          </a:prstGeom>
        </p:spPr>
      </p:pic>
    </p:spTree>
    <p:extLst>
      <p:ext uri="{BB962C8B-B14F-4D97-AF65-F5344CB8AC3E}">
        <p14:creationId xmlns:p14="http://schemas.microsoft.com/office/powerpoint/2010/main" val="202053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79A24919-F068-469C-AC4F-11DB8E6F944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0917CF1-C3C2-3C2E-6CD2-65EB0157AEAC}"/>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697148D9-C600-0380-03E5-D590715C7C3C}"/>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Customers and Churn Rate by Credit Score</a:t>
            </a:r>
          </a:p>
        </p:txBody>
      </p:sp>
      <p:sp>
        <p:nvSpPr>
          <p:cNvPr id="8" name="TextBox 7">
            <a:extLst>
              <a:ext uri="{FF2B5EF4-FFF2-40B4-BE49-F238E27FC236}">
                <a16:creationId xmlns:a16="http://schemas.microsoft.com/office/drawing/2014/main" id="{90F2ECDC-EB14-66BD-85A7-CE81414984CF}"/>
              </a:ext>
            </a:extLst>
          </p:cNvPr>
          <p:cNvSpPr txBox="1"/>
          <p:nvPr/>
        </p:nvSpPr>
        <p:spPr>
          <a:xfrm>
            <a:off x="524933" y="2149821"/>
            <a:ext cx="4873918" cy="4109138"/>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Customers with low credit scores (300–579) have the highest churn rate (22%), indicating high risk.</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Highest customer volume (3.3K) is in the 580–669 range with a churn rate of 20.6%, slightly above average.</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Best retention (19.5%) is seen in the 800–850 score range, though this segment has the lowest customer count (0.7K).</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Mid-credit range (670–739) shows lowest churn (18.6%) among larger groups, making it the most stable customer segment.</a:t>
            </a:r>
          </a:p>
        </p:txBody>
      </p:sp>
      <p:pic>
        <p:nvPicPr>
          <p:cNvPr id="3" name="Picture 2">
            <a:extLst>
              <a:ext uri="{FF2B5EF4-FFF2-40B4-BE49-F238E27FC236}">
                <a16:creationId xmlns:a16="http://schemas.microsoft.com/office/drawing/2014/main" id="{0495C518-2005-FFF8-1AFD-E7EB352A025E}"/>
              </a:ext>
            </a:extLst>
          </p:cNvPr>
          <p:cNvPicPr>
            <a:picLocks noChangeAspect="1"/>
          </p:cNvPicPr>
          <p:nvPr/>
        </p:nvPicPr>
        <p:blipFill>
          <a:blip r:embed="rId2"/>
          <a:stretch>
            <a:fillRect/>
          </a:stretch>
        </p:blipFill>
        <p:spPr>
          <a:xfrm>
            <a:off x="5778233" y="2767757"/>
            <a:ext cx="5941258" cy="2728578"/>
          </a:xfrm>
          <a:prstGeom prst="rect">
            <a:avLst/>
          </a:prstGeom>
        </p:spPr>
      </p:pic>
    </p:spTree>
    <p:extLst>
      <p:ext uri="{BB962C8B-B14F-4D97-AF65-F5344CB8AC3E}">
        <p14:creationId xmlns:p14="http://schemas.microsoft.com/office/powerpoint/2010/main" val="2580077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542EC0A2-B361-2F46-33FB-01EF82693DF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976B1C2-CD5A-99B5-FC84-897423556CEF}"/>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0754078E-EDB2-7E3A-BDBE-2F7481F29F87}"/>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Correlation Insight – Salary vs. Balance</a:t>
            </a:r>
          </a:p>
        </p:txBody>
      </p:sp>
      <p:sp>
        <p:nvSpPr>
          <p:cNvPr id="8" name="TextBox 7">
            <a:extLst>
              <a:ext uri="{FF2B5EF4-FFF2-40B4-BE49-F238E27FC236}">
                <a16:creationId xmlns:a16="http://schemas.microsoft.com/office/drawing/2014/main" id="{3BE29EF4-2525-44F4-30FD-5E7AA9C0032C}"/>
              </a:ext>
            </a:extLst>
          </p:cNvPr>
          <p:cNvSpPr txBox="1"/>
          <p:nvPr/>
        </p:nvSpPr>
        <p:spPr>
          <a:xfrm>
            <a:off x="524932" y="2976671"/>
            <a:ext cx="4942013" cy="2262479"/>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The correlation between Estimated Salary and Balance is very low (0.0128).</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This indicates almost no linear relationship, meaning a customer’s salary does not significantly impact their account balance.</a:t>
            </a:r>
          </a:p>
        </p:txBody>
      </p:sp>
      <p:pic>
        <p:nvPicPr>
          <p:cNvPr id="3" name="Picture 2">
            <a:extLst>
              <a:ext uri="{FF2B5EF4-FFF2-40B4-BE49-F238E27FC236}">
                <a16:creationId xmlns:a16="http://schemas.microsoft.com/office/drawing/2014/main" id="{934B300B-13F5-D3EB-C287-9D945A705881}"/>
              </a:ext>
            </a:extLst>
          </p:cNvPr>
          <p:cNvPicPr>
            <a:picLocks noChangeAspect="1"/>
          </p:cNvPicPr>
          <p:nvPr/>
        </p:nvPicPr>
        <p:blipFill>
          <a:blip r:embed="rId2"/>
          <a:stretch>
            <a:fillRect/>
          </a:stretch>
        </p:blipFill>
        <p:spPr>
          <a:xfrm>
            <a:off x="5768501" y="2503408"/>
            <a:ext cx="5792008" cy="3543795"/>
          </a:xfrm>
          <a:prstGeom prst="rect">
            <a:avLst/>
          </a:prstGeom>
        </p:spPr>
      </p:pic>
    </p:spTree>
    <p:extLst>
      <p:ext uri="{BB962C8B-B14F-4D97-AF65-F5344CB8AC3E}">
        <p14:creationId xmlns:p14="http://schemas.microsoft.com/office/powerpoint/2010/main" val="3424727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989A7973-25F3-262B-3920-4FF2D3A265D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9D68721-6D0B-A22A-EF8F-2BD0C1F490F8}"/>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2E6BC5D1-C9B5-0DE9-0D0E-5E0584F73FCF}"/>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Churn Risk by Country – Geography Insight</a:t>
            </a:r>
          </a:p>
        </p:txBody>
      </p:sp>
      <p:sp>
        <p:nvSpPr>
          <p:cNvPr id="8" name="TextBox 7">
            <a:extLst>
              <a:ext uri="{FF2B5EF4-FFF2-40B4-BE49-F238E27FC236}">
                <a16:creationId xmlns:a16="http://schemas.microsoft.com/office/drawing/2014/main" id="{3DD96D81-B33F-1E2D-7973-5DE76794AB34}"/>
              </a:ext>
            </a:extLst>
          </p:cNvPr>
          <p:cNvSpPr txBox="1"/>
          <p:nvPr/>
        </p:nvSpPr>
        <p:spPr>
          <a:xfrm>
            <a:off x="524932" y="2149821"/>
            <a:ext cx="5243569" cy="4109138"/>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Customers with low credit scores (300–579) have the highest churn rate (22%), indicating high risk.</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Highest customer volume (3.3K) is in the 580–669 range with a churn rate of 20.6%, slightly above average.</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Best retention (19.5%) is seen in the 800–850 score range, though this segment has the lowest customer count (0.7K).</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Mid-credit range (670–739) shows lowest churn (18.6%) among larger groups, making it the most stable customer segment.</a:t>
            </a:r>
          </a:p>
        </p:txBody>
      </p:sp>
      <p:pic>
        <p:nvPicPr>
          <p:cNvPr id="4" name="Picture 3">
            <a:extLst>
              <a:ext uri="{FF2B5EF4-FFF2-40B4-BE49-F238E27FC236}">
                <a16:creationId xmlns:a16="http://schemas.microsoft.com/office/drawing/2014/main" id="{D3C48075-C59D-30A6-198F-7BEAAE96A640}"/>
              </a:ext>
            </a:extLst>
          </p:cNvPr>
          <p:cNvPicPr>
            <a:picLocks noChangeAspect="1"/>
          </p:cNvPicPr>
          <p:nvPr/>
        </p:nvPicPr>
        <p:blipFill>
          <a:blip r:embed="rId2"/>
          <a:stretch>
            <a:fillRect/>
          </a:stretch>
        </p:blipFill>
        <p:spPr>
          <a:xfrm>
            <a:off x="6179901" y="2426393"/>
            <a:ext cx="5487166" cy="3620005"/>
          </a:xfrm>
          <a:prstGeom prst="rect">
            <a:avLst/>
          </a:prstGeom>
        </p:spPr>
      </p:pic>
    </p:spTree>
    <p:extLst>
      <p:ext uri="{BB962C8B-B14F-4D97-AF65-F5344CB8AC3E}">
        <p14:creationId xmlns:p14="http://schemas.microsoft.com/office/powerpoint/2010/main" val="1086804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9F7C7092-1D63-3D64-C7B1-D71DE1BEF6C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14B0443-2295-94AB-D145-543F00139203}"/>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AB0EDA1A-22B8-5B8E-B0D1-B3554A39E8ED}"/>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Correlation Insight – Salary vs. Credit Score</a:t>
            </a:r>
          </a:p>
        </p:txBody>
      </p:sp>
      <p:sp>
        <p:nvSpPr>
          <p:cNvPr id="8" name="TextBox 7">
            <a:extLst>
              <a:ext uri="{FF2B5EF4-FFF2-40B4-BE49-F238E27FC236}">
                <a16:creationId xmlns:a16="http://schemas.microsoft.com/office/drawing/2014/main" id="{F73E8F84-E66B-1043-FE42-30DBFE704FD6}"/>
              </a:ext>
            </a:extLst>
          </p:cNvPr>
          <p:cNvSpPr txBox="1"/>
          <p:nvPr/>
        </p:nvSpPr>
        <p:spPr>
          <a:xfrm>
            <a:off x="524932" y="2976671"/>
            <a:ext cx="4942013" cy="2262479"/>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The correlation is nearly zero (-0.00138), indicating no significant relationship between a customer's estimated salary and their credit score.</a:t>
            </a:r>
          </a:p>
          <a:p>
            <a:pPr marL="285750" indent="-285750" fontAlgn="base">
              <a:lnSpc>
                <a:spcPct val="150000"/>
              </a:lnSpc>
              <a:buFont typeface="Wingdings" panose="05000000000000000000" pitchFamily="2" charset="2"/>
              <a:buChar char="§"/>
            </a:pPr>
            <a:endParaRPr lang="en-US" sz="1600" dirty="0">
              <a:latin typeface="Segoe UI Historic" panose="020B0502040204020203" pitchFamily="34" charset="0"/>
              <a:ea typeface="Segoe UI Historic" panose="020B0502040204020203" pitchFamily="34" charset="0"/>
              <a:cs typeface="Segoe UI Historic" panose="020B0502040204020203" pitchFamily="34" charset="0"/>
            </a:endParaRP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This suggests that higher salaries do not correspond to better credit scores, and vice versa.</a:t>
            </a:r>
          </a:p>
        </p:txBody>
      </p:sp>
      <p:pic>
        <p:nvPicPr>
          <p:cNvPr id="4" name="Picture 3">
            <a:extLst>
              <a:ext uri="{FF2B5EF4-FFF2-40B4-BE49-F238E27FC236}">
                <a16:creationId xmlns:a16="http://schemas.microsoft.com/office/drawing/2014/main" id="{4DDE5A29-7AB6-6BD3-6669-8CFEFA963E8A}"/>
              </a:ext>
            </a:extLst>
          </p:cNvPr>
          <p:cNvPicPr>
            <a:picLocks noChangeAspect="1"/>
          </p:cNvPicPr>
          <p:nvPr/>
        </p:nvPicPr>
        <p:blipFill>
          <a:blip r:embed="rId2"/>
          <a:stretch>
            <a:fillRect/>
          </a:stretch>
        </p:blipFill>
        <p:spPr>
          <a:xfrm>
            <a:off x="5969359" y="2566135"/>
            <a:ext cx="5506218" cy="3496163"/>
          </a:xfrm>
          <a:prstGeom prst="rect">
            <a:avLst/>
          </a:prstGeom>
        </p:spPr>
      </p:pic>
    </p:spTree>
    <p:extLst>
      <p:ext uri="{BB962C8B-B14F-4D97-AF65-F5344CB8AC3E}">
        <p14:creationId xmlns:p14="http://schemas.microsoft.com/office/powerpoint/2010/main" val="2791539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36C640D7-7D89-273E-82EF-7AEDCB5BCCC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6A285FA-C49B-A355-6B66-0DC38DB48982}"/>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9F08DB1B-5EBC-A2AB-6582-A0C5006168B7}"/>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Customers and Churn Rate by Age</a:t>
            </a:r>
          </a:p>
        </p:txBody>
      </p:sp>
      <p:sp>
        <p:nvSpPr>
          <p:cNvPr id="8" name="TextBox 7">
            <a:extLst>
              <a:ext uri="{FF2B5EF4-FFF2-40B4-BE49-F238E27FC236}">
                <a16:creationId xmlns:a16="http://schemas.microsoft.com/office/drawing/2014/main" id="{59EF98B6-2203-91AE-BC29-4F8880993BB9}"/>
              </a:ext>
            </a:extLst>
          </p:cNvPr>
          <p:cNvSpPr txBox="1"/>
          <p:nvPr/>
        </p:nvSpPr>
        <p:spPr>
          <a:xfrm>
            <a:off x="524932" y="2149821"/>
            <a:ext cx="5671587" cy="4109138"/>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50+ group shows the highest churn (45.4%), despite being the smallest segment — indicating strong dissatisfaction and a clear need for targeted retention.</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18–30 group has the lowest churn (7.6%), making them the most stable and satisfied customers. </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30–50 group is the largest segment (7K customers) with a moderate churn rate (18.4%), meaning improvements here will have the biggest overall impact.</a:t>
            </a:r>
          </a:p>
          <a:p>
            <a:pPr marL="285750" indent="-285750" fontAlgn="base">
              <a:lnSpc>
                <a:spcPct val="150000"/>
              </a:lnSpc>
              <a:buFont typeface="Wingdings" panose="05000000000000000000" pitchFamily="2" charset="2"/>
              <a:buChar char="§"/>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The sharp rise in churn from younger to older groups suggests older customers need more support and tailored products.</a:t>
            </a:r>
          </a:p>
        </p:txBody>
      </p:sp>
      <p:pic>
        <p:nvPicPr>
          <p:cNvPr id="3" name="Picture 2">
            <a:extLst>
              <a:ext uri="{FF2B5EF4-FFF2-40B4-BE49-F238E27FC236}">
                <a16:creationId xmlns:a16="http://schemas.microsoft.com/office/drawing/2014/main" id="{46EE6EBC-DA6F-5C8D-41E2-7BC67B9402F0}"/>
              </a:ext>
            </a:extLst>
          </p:cNvPr>
          <p:cNvPicPr>
            <a:picLocks noChangeAspect="1"/>
          </p:cNvPicPr>
          <p:nvPr/>
        </p:nvPicPr>
        <p:blipFill>
          <a:blip r:embed="rId2"/>
          <a:stretch>
            <a:fillRect/>
          </a:stretch>
        </p:blipFill>
        <p:spPr>
          <a:xfrm>
            <a:off x="6421125" y="2548647"/>
            <a:ext cx="5319893" cy="3275754"/>
          </a:xfrm>
          <a:prstGeom prst="rect">
            <a:avLst/>
          </a:prstGeom>
        </p:spPr>
      </p:pic>
    </p:spTree>
    <p:extLst>
      <p:ext uri="{BB962C8B-B14F-4D97-AF65-F5344CB8AC3E}">
        <p14:creationId xmlns:p14="http://schemas.microsoft.com/office/powerpoint/2010/main" val="3684948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082DBFCD-FE33-E028-8AB4-87DBB4B4612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85B3D7C-49A7-EC80-ED91-49A248D0258D}"/>
              </a:ext>
            </a:extLst>
          </p:cNvPr>
          <p:cNvSpPr/>
          <p:nvPr/>
        </p:nvSpPr>
        <p:spPr>
          <a:xfrm>
            <a:off x="0" y="0"/>
            <a:ext cx="12192000" cy="163406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DEDE1C51-FC0C-C609-78FC-40F4B60108A7}"/>
              </a:ext>
            </a:extLst>
          </p:cNvPr>
          <p:cNvSpPr/>
          <p:nvPr/>
        </p:nvSpPr>
        <p:spPr>
          <a:xfrm>
            <a:off x="524933" y="0"/>
            <a:ext cx="11116734" cy="163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latin typeface="Noto Sans SC Black" panose="020B0200000000000000" pitchFamily="34" charset="-128"/>
                <a:ea typeface="Noto Sans SC Black" panose="020B0200000000000000" pitchFamily="34" charset="-128"/>
              </a:rPr>
              <a:t>KPI Insights Summary</a:t>
            </a:r>
          </a:p>
        </p:txBody>
      </p:sp>
      <p:sp>
        <p:nvSpPr>
          <p:cNvPr id="8" name="TextBox 7">
            <a:extLst>
              <a:ext uri="{FF2B5EF4-FFF2-40B4-BE49-F238E27FC236}">
                <a16:creationId xmlns:a16="http://schemas.microsoft.com/office/drawing/2014/main" id="{56130711-BF5F-BD16-ACE3-A753812041CA}"/>
              </a:ext>
            </a:extLst>
          </p:cNvPr>
          <p:cNvSpPr txBox="1"/>
          <p:nvPr/>
        </p:nvSpPr>
        <p:spPr>
          <a:xfrm>
            <a:off x="524932" y="3715975"/>
            <a:ext cx="11116734" cy="2631811"/>
          </a:xfrm>
          <a:prstGeom prst="rect">
            <a:avLst/>
          </a:prstGeom>
          <a:noFill/>
        </p:spPr>
        <p:txBody>
          <a:bodyPr wrap="square" rtlCol="0">
            <a:spAutoFit/>
          </a:bodyPr>
          <a:lstStyle/>
          <a:p>
            <a:pPr marL="285750" indent="-285750" fontAlgn="base">
              <a:lnSpc>
                <a:spcPct val="150000"/>
              </a:lnSpc>
              <a:buFont typeface="Wingdings" panose="05000000000000000000" pitchFamily="2" charset="2"/>
              <a:buChar char="§"/>
            </a:pPr>
            <a:r>
              <a:rPr lang="en-US" sz="1600" b="1" dirty="0">
                <a:latin typeface="Segoe UI Historic" panose="020B0502040204020203" pitchFamily="34" charset="0"/>
                <a:ea typeface="Segoe UI Historic" panose="020B0502040204020203" pitchFamily="34" charset="0"/>
                <a:cs typeface="Segoe UI Historic" panose="020B0502040204020203" pitchFamily="34" charset="0"/>
              </a:rPr>
              <a:t>Total Customers: </a:t>
            </a: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10K – solid customer base.</a:t>
            </a:r>
          </a:p>
          <a:p>
            <a:pPr marL="285750" indent="-285750" fontAlgn="base">
              <a:lnSpc>
                <a:spcPct val="150000"/>
              </a:lnSpc>
              <a:buFont typeface="Wingdings" panose="05000000000000000000" pitchFamily="2" charset="2"/>
              <a:buChar char="§"/>
            </a:pPr>
            <a:r>
              <a:rPr lang="en-US" sz="1600" b="1" dirty="0">
                <a:latin typeface="Segoe UI Historic" panose="020B0502040204020203" pitchFamily="34" charset="0"/>
                <a:ea typeface="Segoe UI Historic" panose="020B0502040204020203" pitchFamily="34" charset="0"/>
                <a:cs typeface="Segoe UI Historic" panose="020B0502040204020203" pitchFamily="34" charset="0"/>
              </a:rPr>
              <a:t>Active Customers</a:t>
            </a: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 5,151 (51.5%) – moderate engagement.</a:t>
            </a:r>
          </a:p>
          <a:p>
            <a:pPr marL="285750" indent="-285750" fontAlgn="base">
              <a:lnSpc>
                <a:spcPct val="150000"/>
              </a:lnSpc>
              <a:buFont typeface="Wingdings" panose="05000000000000000000" pitchFamily="2" charset="2"/>
              <a:buChar char="§"/>
            </a:pPr>
            <a:r>
              <a:rPr lang="en-US" sz="1600" b="1" dirty="0">
                <a:latin typeface="Segoe UI Historic" panose="020B0502040204020203" pitchFamily="34" charset="0"/>
                <a:ea typeface="Segoe UI Historic" panose="020B0502040204020203" pitchFamily="34" charset="0"/>
                <a:cs typeface="Segoe UI Historic" panose="020B0502040204020203" pitchFamily="34" charset="0"/>
              </a:rPr>
              <a:t>Exited Customers</a:t>
            </a: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 2,037 – aligns with churn rate.</a:t>
            </a:r>
          </a:p>
          <a:p>
            <a:pPr marL="285750" indent="-285750" fontAlgn="base">
              <a:lnSpc>
                <a:spcPct val="150000"/>
              </a:lnSpc>
              <a:buFont typeface="Wingdings" panose="05000000000000000000" pitchFamily="2" charset="2"/>
              <a:buChar char="§"/>
            </a:pPr>
            <a:r>
              <a:rPr lang="en-US" sz="1600" b="1" dirty="0">
                <a:latin typeface="Segoe UI Historic" panose="020B0502040204020203" pitchFamily="34" charset="0"/>
                <a:ea typeface="Segoe UI Historic" panose="020B0502040204020203" pitchFamily="34" charset="0"/>
                <a:cs typeface="Segoe UI Historic" panose="020B0502040204020203" pitchFamily="34" charset="0"/>
              </a:rPr>
              <a:t>Churn Rate</a:t>
            </a: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 20.4% – relatively high; retention improvement needed.</a:t>
            </a:r>
          </a:p>
          <a:p>
            <a:pPr marL="285750" indent="-285750" fontAlgn="base">
              <a:lnSpc>
                <a:spcPct val="150000"/>
              </a:lnSpc>
              <a:buFont typeface="Wingdings" panose="05000000000000000000" pitchFamily="2" charset="2"/>
              <a:buChar char="§"/>
            </a:pPr>
            <a:r>
              <a:rPr lang="en-US" sz="1600" b="1" dirty="0">
                <a:latin typeface="Segoe UI Historic" panose="020B0502040204020203" pitchFamily="34" charset="0"/>
                <a:ea typeface="Segoe UI Historic" panose="020B0502040204020203" pitchFamily="34" charset="0"/>
                <a:cs typeface="Segoe UI Historic" panose="020B0502040204020203" pitchFamily="34" charset="0"/>
              </a:rPr>
              <a:t>Credit Card Holders</a:t>
            </a: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 7,055 (70.5%) – strong financially active segment.</a:t>
            </a:r>
          </a:p>
          <a:p>
            <a:pPr fontAlgn="base">
              <a:lnSpc>
                <a:spcPct val="150000"/>
              </a:lnSpc>
            </a:pPr>
            <a:r>
              <a:rPr lang="en-US" sz="1600" dirty="0">
                <a:latin typeface="Segoe UI Historic" panose="020B0502040204020203" pitchFamily="34" charset="0"/>
                <a:ea typeface="Segoe UI Historic" panose="020B0502040204020203" pitchFamily="34" charset="0"/>
                <a:cs typeface="Segoe UI Historic" panose="020B0502040204020203" pitchFamily="34" charset="0"/>
              </a:rPr>
              <a:t>Overall: Good customer volume but high churn. Focus on boosting retention and engagement, especially among credit card users.</a:t>
            </a:r>
          </a:p>
        </p:txBody>
      </p:sp>
      <p:pic>
        <p:nvPicPr>
          <p:cNvPr id="4" name="Picture 3">
            <a:extLst>
              <a:ext uri="{FF2B5EF4-FFF2-40B4-BE49-F238E27FC236}">
                <a16:creationId xmlns:a16="http://schemas.microsoft.com/office/drawing/2014/main" id="{73AD0510-F6BB-051E-012B-2FB739C9BB2B}"/>
              </a:ext>
            </a:extLst>
          </p:cNvPr>
          <p:cNvPicPr>
            <a:picLocks noChangeAspect="1"/>
          </p:cNvPicPr>
          <p:nvPr/>
        </p:nvPicPr>
        <p:blipFill>
          <a:blip r:embed="rId2"/>
          <a:stretch>
            <a:fillRect/>
          </a:stretch>
        </p:blipFill>
        <p:spPr>
          <a:xfrm>
            <a:off x="524932" y="1962643"/>
            <a:ext cx="11164730" cy="1393400"/>
          </a:xfrm>
          <a:prstGeom prst="rect">
            <a:avLst/>
          </a:prstGeom>
        </p:spPr>
      </p:pic>
    </p:spTree>
    <p:extLst>
      <p:ext uri="{BB962C8B-B14F-4D97-AF65-F5344CB8AC3E}">
        <p14:creationId xmlns:p14="http://schemas.microsoft.com/office/powerpoint/2010/main" val="1970737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5A96-05F1-D03A-A7D7-D3AF7DC79B8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E05373B-5112-FBFD-04AF-22A448507D14}"/>
              </a:ext>
            </a:extLst>
          </p:cNvPr>
          <p:cNvSpPr/>
          <p:nvPr/>
        </p:nvSpPr>
        <p:spPr>
          <a:xfrm>
            <a:off x="0" y="0"/>
            <a:ext cx="12192000"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207B02F-7F35-87E6-8A84-201A76FB60FA}"/>
              </a:ext>
            </a:extLst>
          </p:cNvPr>
          <p:cNvSpPr>
            <a:spLocks noGrp="1"/>
          </p:cNvSpPr>
          <p:nvPr>
            <p:ph type="ctrTitle"/>
          </p:nvPr>
        </p:nvSpPr>
        <p:spPr>
          <a:xfrm>
            <a:off x="1524000" y="3044763"/>
            <a:ext cx="9144000" cy="1379887"/>
          </a:xfrm>
        </p:spPr>
        <p:txBody>
          <a:bodyPr>
            <a:normAutofit/>
          </a:bodyPr>
          <a:lstStyle/>
          <a:p>
            <a:r>
              <a:rPr lang="en-IN" sz="6600" b="1" dirty="0">
                <a:solidFill>
                  <a:schemeClr val="bg1"/>
                </a:solidFill>
                <a:latin typeface="Noto Sans SC Black" panose="020B0200000000000000" pitchFamily="34" charset="-128"/>
                <a:ea typeface="Noto Sans SC Black" panose="020B0200000000000000" pitchFamily="34" charset="-128"/>
              </a:rPr>
              <a:t>Dashboard Snippets</a:t>
            </a:r>
          </a:p>
        </p:txBody>
      </p:sp>
      <p:pic>
        <p:nvPicPr>
          <p:cNvPr id="7" name="Picture 6" descr="A black background with a black square&#10;&#10;AI-generated content may be incorrect.">
            <a:extLst>
              <a:ext uri="{FF2B5EF4-FFF2-40B4-BE49-F238E27FC236}">
                <a16:creationId xmlns:a16="http://schemas.microsoft.com/office/drawing/2014/main" id="{E69D2FD0-F4F5-C9BB-FFCA-4CD81FEC47B3}"/>
              </a:ext>
            </a:extLst>
          </p:cNvPr>
          <p:cNvPicPr>
            <a:picLocks noChangeAspect="1"/>
          </p:cNvPicPr>
          <p:nvPr/>
        </p:nvPicPr>
        <p:blipFill>
          <a:blip r:embed="rId2">
            <a:lum bright="70000" contrast="-70000"/>
            <a:alphaModFix amt="50000"/>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5528563" y="1655347"/>
            <a:ext cx="1134873" cy="1134873"/>
          </a:xfrm>
          <a:prstGeom prst="rect">
            <a:avLst/>
          </a:prstGeom>
        </p:spPr>
      </p:pic>
    </p:spTree>
    <p:extLst>
      <p:ext uri="{BB962C8B-B14F-4D97-AF65-F5344CB8AC3E}">
        <p14:creationId xmlns:p14="http://schemas.microsoft.com/office/powerpoint/2010/main" val="1846538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9E547805-B0B3-2CFD-8BAE-81FD70152306}"/>
            </a:ext>
          </a:extLst>
        </p:cNvPr>
        <p:cNvGrpSpPr/>
        <p:nvPr/>
      </p:nvGrpSpPr>
      <p:grpSpPr>
        <a:xfrm>
          <a:off x="0" y="0"/>
          <a:ext cx="0" cy="0"/>
          <a:chOff x="0" y="0"/>
          <a:chExt cx="0" cy="0"/>
        </a:xfrm>
      </p:grpSpPr>
      <p:pic>
        <p:nvPicPr>
          <p:cNvPr id="4" name="Picture 3" descr="A screenshot of a chart&#10;&#10;AI-generated content may be incorrect.">
            <a:extLst>
              <a:ext uri="{FF2B5EF4-FFF2-40B4-BE49-F238E27FC236}">
                <a16:creationId xmlns:a16="http://schemas.microsoft.com/office/drawing/2014/main" id="{2D1C0A4C-CCFD-5D67-44D3-D4766348C585}"/>
              </a:ext>
            </a:extLst>
          </p:cNvPr>
          <p:cNvPicPr>
            <a:picLocks noChangeAspect="1"/>
          </p:cNvPicPr>
          <p:nvPr/>
        </p:nvPicPr>
        <p:blipFill>
          <a:blip r:embed="rId2"/>
          <a:stretch>
            <a:fillRect/>
          </a:stretch>
        </p:blipFill>
        <p:spPr>
          <a:xfrm>
            <a:off x="412569" y="76089"/>
            <a:ext cx="11366861" cy="6705822"/>
          </a:xfrm>
          <a:prstGeom prst="rect">
            <a:avLst/>
          </a:prstGeom>
        </p:spPr>
      </p:pic>
    </p:spTree>
    <p:extLst>
      <p:ext uri="{BB962C8B-B14F-4D97-AF65-F5344CB8AC3E}">
        <p14:creationId xmlns:p14="http://schemas.microsoft.com/office/powerpoint/2010/main" val="3181071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DDCB526D-161B-A7C4-8581-E227CE2A3E15}"/>
              </a:ext>
            </a:extLst>
          </p:cNvPr>
          <p:cNvPicPr>
            <a:picLocks noChangeAspect="1"/>
          </p:cNvPicPr>
          <p:nvPr/>
        </p:nvPicPr>
        <p:blipFill>
          <a:blip r:embed="rId3"/>
          <a:stretch>
            <a:fillRect/>
          </a:stretch>
        </p:blipFill>
        <p:spPr>
          <a:xfrm>
            <a:off x="479452" y="120986"/>
            <a:ext cx="11233096" cy="6616028"/>
          </a:xfrm>
          <a:prstGeom prst="rect">
            <a:avLst/>
          </a:prstGeom>
        </p:spPr>
      </p:pic>
    </p:spTree>
    <p:extLst>
      <p:ext uri="{BB962C8B-B14F-4D97-AF65-F5344CB8AC3E}">
        <p14:creationId xmlns:p14="http://schemas.microsoft.com/office/powerpoint/2010/main" val="1007593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BC068C-C206-2181-9D2D-7A29728816CD}"/>
              </a:ext>
            </a:extLst>
          </p:cNvPr>
          <p:cNvPicPr>
            <a:picLocks noChangeAspect="1"/>
          </p:cNvPicPr>
          <p:nvPr/>
        </p:nvPicPr>
        <p:blipFill>
          <a:blip r:embed="rId3"/>
          <a:stretch>
            <a:fillRect/>
          </a:stretch>
        </p:blipFill>
        <p:spPr>
          <a:xfrm>
            <a:off x="209126" y="262393"/>
            <a:ext cx="11773747" cy="6333214"/>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6C8FE08F-6D0A-890F-9897-A08F41793EA7}"/>
              </a:ext>
            </a:extLst>
          </p:cNvPr>
          <p:cNvPicPr>
            <a:picLocks noChangeAspect="1"/>
          </p:cNvPicPr>
          <p:nvPr/>
        </p:nvPicPr>
        <p:blipFill>
          <a:blip r:embed="rId4"/>
          <a:stretch>
            <a:fillRect/>
          </a:stretch>
        </p:blipFill>
        <p:spPr>
          <a:xfrm>
            <a:off x="393674" y="74955"/>
            <a:ext cx="11404649" cy="6708089"/>
          </a:xfrm>
          <a:prstGeom prst="rect">
            <a:avLst/>
          </a:prstGeom>
        </p:spPr>
      </p:pic>
    </p:spTree>
    <p:extLst>
      <p:ext uri="{BB962C8B-B14F-4D97-AF65-F5344CB8AC3E}">
        <p14:creationId xmlns:p14="http://schemas.microsoft.com/office/powerpoint/2010/main" val="2695088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a:extLst>
            <a:ext uri="{FF2B5EF4-FFF2-40B4-BE49-F238E27FC236}">
              <a16:creationId xmlns:a16="http://schemas.microsoft.com/office/drawing/2014/main" id="{BE133069-9E8F-F872-54CC-00B55ACBCE8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E21B9FA-7A5A-7176-14B3-564D359FD4A0}"/>
              </a:ext>
            </a:extLst>
          </p:cNvPr>
          <p:cNvPicPr>
            <a:picLocks noChangeAspect="1"/>
          </p:cNvPicPr>
          <p:nvPr/>
        </p:nvPicPr>
        <p:blipFill>
          <a:blip r:embed="rId3"/>
          <a:stretch>
            <a:fillRect/>
          </a:stretch>
        </p:blipFill>
        <p:spPr>
          <a:xfrm>
            <a:off x="209126" y="262393"/>
            <a:ext cx="11773747" cy="6333214"/>
          </a:xfrm>
          <a:prstGeom prst="rect">
            <a:avLst/>
          </a:prstGeom>
        </p:spPr>
      </p:pic>
    </p:spTree>
    <p:extLst>
      <p:ext uri="{BB962C8B-B14F-4D97-AF65-F5344CB8AC3E}">
        <p14:creationId xmlns:p14="http://schemas.microsoft.com/office/powerpoint/2010/main" val="2506482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EBF9"/>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ABF1A3-5340-DFBD-A986-7572C3CF9913}"/>
              </a:ext>
            </a:extLst>
          </p:cNvPr>
          <p:cNvPicPr>
            <a:picLocks noChangeAspect="1"/>
          </p:cNvPicPr>
          <p:nvPr/>
        </p:nvPicPr>
        <p:blipFill>
          <a:blip r:embed="rId2"/>
          <a:stretch>
            <a:fillRect/>
          </a:stretch>
        </p:blipFill>
        <p:spPr>
          <a:xfrm>
            <a:off x="21684" y="924127"/>
            <a:ext cx="12148631" cy="5009745"/>
          </a:xfrm>
          <a:prstGeom prst="rect">
            <a:avLst/>
          </a:prstGeom>
        </p:spPr>
      </p:pic>
    </p:spTree>
    <p:extLst>
      <p:ext uri="{BB962C8B-B14F-4D97-AF65-F5344CB8AC3E}">
        <p14:creationId xmlns:p14="http://schemas.microsoft.com/office/powerpoint/2010/main" val="682193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B468E-5CDC-5FD5-6AA6-0228B05B72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8E57D1-34CD-C18B-B3CD-10B0AD964CB2}"/>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65CD9CBE-5AA4-0B5C-2C38-A60305523C70}"/>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DC741994-CF96-1511-B750-D138498F77F4}"/>
              </a:ext>
            </a:extLst>
          </p:cNvPr>
          <p:cNvSpPr/>
          <p:nvPr/>
        </p:nvSpPr>
        <p:spPr>
          <a:xfrm>
            <a:off x="758758" y="0"/>
            <a:ext cx="3949430"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solidFill>
                  <a:schemeClr val="bg1"/>
                </a:solidFill>
                <a:latin typeface="Noto Sans SC Black" panose="020B0200000000000000" pitchFamily="34" charset="-128"/>
                <a:ea typeface="Noto Sans SC Black" panose="020B0200000000000000" pitchFamily="34" charset="-128"/>
              </a:rPr>
              <a:t>Challenges Faced</a:t>
            </a:r>
          </a:p>
        </p:txBody>
      </p:sp>
      <p:sp>
        <p:nvSpPr>
          <p:cNvPr id="5" name="Rectangle 4">
            <a:extLst>
              <a:ext uri="{FF2B5EF4-FFF2-40B4-BE49-F238E27FC236}">
                <a16:creationId xmlns:a16="http://schemas.microsoft.com/office/drawing/2014/main" id="{8E975837-C9ED-FBBB-D34C-AA4C30DE620A}"/>
              </a:ext>
            </a:extLst>
          </p:cNvPr>
          <p:cNvSpPr/>
          <p:nvPr/>
        </p:nvSpPr>
        <p:spPr>
          <a:xfrm>
            <a:off x="5719867" y="606760"/>
            <a:ext cx="6147881" cy="5586466"/>
          </a:xfrm>
          <a:prstGeom prst="rect">
            <a:avLst/>
          </a:prstGeom>
          <a:noFill/>
        </p:spPr>
        <p:txBody>
          <a:bodyPr wrap="square" lIns="91440" tIns="45720" rIns="91440" bIns="45720" anchor="ctr">
            <a:spAutoFit/>
          </a:bodyPr>
          <a:lstStyle/>
          <a:p>
            <a:pPr marL="285750" indent="-285750">
              <a:lnSpc>
                <a:spcPct val="150000"/>
              </a:lnSpc>
              <a:buFont typeface="Wingdings" panose="05000000000000000000" pitchFamily="2" charset="2"/>
              <a:buChar char="§"/>
            </a:pPr>
            <a:r>
              <a:rPr lang="en-US" sz="1600"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Limited Data Availability: </a:t>
            </a: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Obtaining comprehensive datasets for analysis proved challenging, since several crucial variables were absent, which limited the breadth of insights that could be obtained. </a:t>
            </a:r>
          </a:p>
          <a:p>
            <a:pPr marL="285750" indent="-285750">
              <a:lnSpc>
                <a:spcPct val="150000"/>
              </a:lnSpc>
              <a:buFont typeface="Wingdings" panose="05000000000000000000" pitchFamily="2" charset="2"/>
              <a:buChar char="§"/>
            </a:pPr>
            <a:r>
              <a:rPr lang="en-US" sz="1600"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Technical Restrictions: </a:t>
            </a: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Due to the limitations of the technologies at hand, it was difficult to carry out intricate analyses or put sophisticated machine learning algorithms into practice.</a:t>
            </a:r>
          </a:p>
          <a:p>
            <a:pPr marL="285750" indent="-285750">
              <a:lnSpc>
                <a:spcPct val="150000"/>
              </a:lnSpc>
              <a:buFont typeface="Wingdings" panose="05000000000000000000" pitchFamily="2" charset="2"/>
              <a:buChar char="§"/>
            </a:pPr>
            <a:r>
              <a:rPr lang="en-US" sz="1600"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Complexity of Analysis: </a:t>
            </a: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Understanding complex connections and trends in the data was necessary for analyzing customer behavior and forecasting churn, which called for advanced analytical techniques and cautious result interpretation.</a:t>
            </a:r>
          </a:p>
          <a:p>
            <a:pPr marL="285750" indent="-285750">
              <a:lnSpc>
                <a:spcPct val="150000"/>
              </a:lnSpc>
              <a:buFont typeface="Wingdings" panose="05000000000000000000" pitchFamily="2" charset="2"/>
              <a:buChar char="§"/>
            </a:pPr>
            <a:r>
              <a:rPr lang="en-US" sz="1600" b="1"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Overcoming Obstacles: </a:t>
            </a: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Overcoming these obstacles required using iterative problem-solving strategies, making the most of the resources at hand, and cultivating a resilient and adaptive attitude to deal with uncertainty.</a:t>
            </a:r>
          </a:p>
        </p:txBody>
      </p:sp>
    </p:spTree>
    <p:extLst>
      <p:ext uri="{BB962C8B-B14F-4D97-AF65-F5344CB8AC3E}">
        <p14:creationId xmlns:p14="http://schemas.microsoft.com/office/powerpoint/2010/main" val="2206118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B6F3-C7C0-679B-DD6C-DA16C679D9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17471DB-81A8-8513-12DF-CB9C0F70BD2D}"/>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656DA9EE-1E2D-D102-AC39-2AED5326A419}"/>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51723CE2-7F60-5C20-C07B-8B648B7AA135}"/>
              </a:ext>
            </a:extLst>
          </p:cNvPr>
          <p:cNvSpPr/>
          <p:nvPr/>
        </p:nvSpPr>
        <p:spPr>
          <a:xfrm>
            <a:off x="505838" y="0"/>
            <a:ext cx="3920247"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solidFill>
                  <a:schemeClr val="bg1"/>
                </a:solidFill>
                <a:latin typeface="Noto Sans SC Black" panose="020B0200000000000000" pitchFamily="34" charset="-128"/>
                <a:ea typeface="Noto Sans SC Black" panose="020B0200000000000000" pitchFamily="34" charset="-128"/>
              </a:rPr>
              <a:t>Recommendations</a:t>
            </a:r>
          </a:p>
        </p:txBody>
      </p:sp>
      <p:sp>
        <p:nvSpPr>
          <p:cNvPr id="5" name="Rectangle 4">
            <a:extLst>
              <a:ext uri="{FF2B5EF4-FFF2-40B4-BE49-F238E27FC236}">
                <a16:creationId xmlns:a16="http://schemas.microsoft.com/office/drawing/2014/main" id="{C8963FA2-C252-B55F-EBF1-2FD9C2F28DE0}"/>
              </a:ext>
            </a:extLst>
          </p:cNvPr>
          <p:cNvSpPr/>
          <p:nvPr/>
        </p:nvSpPr>
        <p:spPr>
          <a:xfrm>
            <a:off x="5953328" y="976092"/>
            <a:ext cx="5603132" cy="4847802"/>
          </a:xfrm>
          <a:prstGeom prst="rect">
            <a:avLst/>
          </a:prstGeom>
          <a:noFill/>
        </p:spPr>
        <p:txBody>
          <a:bodyPr wrap="square" lIns="91440" tIns="45720" rIns="91440" bIns="45720" anchor="ctr">
            <a:spAutoFit/>
          </a:bodyPr>
          <a:lstStyle/>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Focus retention efforts on females aged 50+ and German customers, as they show the highest churn rates.</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Launch personalized upselling campaigns for single-product holders and non-credit card users to deepen engagement.</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Strengthen loyalty programs for the 30–50 male segment, the largest and moderately stable group.</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Promote and reward behavior seen in mid-credit score groups (670–739) to maintain their low churn.</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Salary-based targeting should be avoided, as salary has minimal impact on both balance and credit score.</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Prioritize France and Spain for expansion, as both show strong customer loyalty with manageable churn rates.</a:t>
            </a:r>
          </a:p>
        </p:txBody>
      </p:sp>
    </p:spTree>
    <p:extLst>
      <p:ext uri="{BB962C8B-B14F-4D97-AF65-F5344CB8AC3E}">
        <p14:creationId xmlns:p14="http://schemas.microsoft.com/office/powerpoint/2010/main" val="1803081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82A3-9F4C-2D43-8317-F99144DC4E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1563BE-29E5-7257-92B9-1B6CBC9EB13F}"/>
              </a:ext>
            </a:extLst>
          </p:cNvPr>
          <p:cNvSpPr>
            <a:spLocks/>
          </p:cNvSpPr>
          <p:nvPr/>
        </p:nvSpPr>
        <p:spPr>
          <a:xfrm>
            <a:off x="0" y="0"/>
            <a:ext cx="12192000" cy="6858000"/>
          </a:xfrm>
          <a:prstGeom prst="rect">
            <a:avLst/>
          </a:prstGeom>
          <a:solidFill>
            <a:srgbClr val="F3EBF9"/>
          </a:solidFill>
          <a:ln>
            <a:solidFill>
              <a:srgbClr val="F3EB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942B5CB8-9592-715B-F412-7F6F8D710298}"/>
              </a:ext>
            </a:extLst>
          </p:cNvPr>
          <p:cNvSpPr/>
          <p:nvPr/>
        </p:nvSpPr>
        <p:spPr>
          <a:xfrm>
            <a:off x="0" y="0"/>
            <a:ext cx="5376333"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Rectangle 2">
            <a:extLst>
              <a:ext uri="{FF2B5EF4-FFF2-40B4-BE49-F238E27FC236}">
                <a16:creationId xmlns:a16="http://schemas.microsoft.com/office/drawing/2014/main" id="{19858282-4552-3BC8-06BD-804DFB5DE8A8}"/>
              </a:ext>
            </a:extLst>
          </p:cNvPr>
          <p:cNvSpPr/>
          <p:nvPr/>
        </p:nvSpPr>
        <p:spPr>
          <a:xfrm>
            <a:off x="758758" y="0"/>
            <a:ext cx="3949430" cy="656166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b="1" dirty="0">
                <a:solidFill>
                  <a:schemeClr val="bg1"/>
                </a:solidFill>
                <a:latin typeface="Noto Sans SC Black" panose="020B0200000000000000" pitchFamily="34" charset="-128"/>
                <a:ea typeface="Noto Sans SC Black" panose="020B0200000000000000" pitchFamily="34" charset="-128"/>
              </a:rPr>
              <a:t>Conclusion</a:t>
            </a:r>
          </a:p>
        </p:txBody>
      </p:sp>
      <p:sp>
        <p:nvSpPr>
          <p:cNvPr id="5" name="Rectangle 4">
            <a:extLst>
              <a:ext uri="{FF2B5EF4-FFF2-40B4-BE49-F238E27FC236}">
                <a16:creationId xmlns:a16="http://schemas.microsoft.com/office/drawing/2014/main" id="{2EC08C35-D856-63E8-AFE4-77D7F81930B9}"/>
              </a:ext>
            </a:extLst>
          </p:cNvPr>
          <p:cNvSpPr/>
          <p:nvPr/>
        </p:nvSpPr>
        <p:spPr>
          <a:xfrm>
            <a:off x="5953328" y="791426"/>
            <a:ext cx="5603132" cy="5217134"/>
          </a:xfrm>
          <a:prstGeom prst="rect">
            <a:avLst/>
          </a:prstGeom>
          <a:noFill/>
        </p:spPr>
        <p:txBody>
          <a:bodyPr wrap="square" lIns="91440" tIns="45720" rIns="91440" bIns="45720" anchor="ctr">
            <a:spAutoFit/>
          </a:bodyPr>
          <a:lstStyle/>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Churn is highest among females 50+ (52.4%) and Germans (32.4%), needing focused retention strategies.</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Young customers (18–30) and those with mid credit scores (670–739) show the lowest churn, indicating loyalty.</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France has the strongest market presence with high customer volume and low exit rate (16.2%).</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Most customers hold only 1 product but contribute the highest balance, highlighting upsell potential.</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Non-credit card holders (29.45%) are a key group for cross-sell strategies.</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latin typeface="Segoe UI Historic" panose="020B0502040204020203" pitchFamily="34" charset="0"/>
                <a:ea typeface="Segoe UI Historic" panose="020B0502040204020203" pitchFamily="34" charset="0"/>
                <a:cs typeface="Segoe UI Historic" panose="020B0502040204020203" pitchFamily="34" charset="0"/>
              </a:rPr>
              <a:t>Salary has no correlation with credit score or balance, suggesting it's not a useful predictor for churn or financial behavior.</a:t>
            </a:r>
          </a:p>
        </p:txBody>
      </p:sp>
    </p:spTree>
    <p:extLst>
      <p:ext uri="{BB962C8B-B14F-4D97-AF65-F5344CB8AC3E}">
        <p14:creationId xmlns:p14="http://schemas.microsoft.com/office/powerpoint/2010/main" val="397820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DC5C9-E189-AC25-B936-ADBC6605255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4AFEF72-0D27-B55D-5776-C148321A697B}"/>
              </a:ext>
            </a:extLst>
          </p:cNvPr>
          <p:cNvSpPr/>
          <p:nvPr/>
        </p:nvSpPr>
        <p:spPr>
          <a:xfrm>
            <a:off x="0" y="0"/>
            <a:ext cx="12192000" cy="6858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073A650-2D5C-BCA2-28E0-5ED785A142B0}"/>
              </a:ext>
            </a:extLst>
          </p:cNvPr>
          <p:cNvSpPr>
            <a:spLocks noGrp="1"/>
          </p:cNvSpPr>
          <p:nvPr>
            <p:ph type="ctrTitle"/>
          </p:nvPr>
        </p:nvSpPr>
        <p:spPr>
          <a:xfrm>
            <a:off x="1524000" y="0"/>
            <a:ext cx="9144000" cy="6857999"/>
          </a:xfrm>
        </p:spPr>
        <p:txBody>
          <a:bodyPr anchor="ctr">
            <a:normAutofit/>
          </a:bodyPr>
          <a:lstStyle/>
          <a:p>
            <a:r>
              <a:rPr lang="en-IN" sz="6600" b="1" dirty="0">
                <a:solidFill>
                  <a:schemeClr val="bg1"/>
                </a:solidFill>
                <a:latin typeface="Noto Sans SC Black" panose="020B0200000000000000" pitchFamily="34" charset="-128"/>
                <a:ea typeface="Noto Sans SC Black" panose="020B0200000000000000" pitchFamily="34" charset="-128"/>
              </a:rPr>
              <a:t>Thank You!</a:t>
            </a:r>
          </a:p>
        </p:txBody>
      </p:sp>
    </p:spTree>
    <p:extLst>
      <p:ext uri="{BB962C8B-B14F-4D97-AF65-F5344CB8AC3E}">
        <p14:creationId xmlns:p14="http://schemas.microsoft.com/office/powerpoint/2010/main" val="2303230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131</TotalTime>
  <Words>1393</Words>
  <Application>Microsoft Office PowerPoint</Application>
  <PresentationFormat>Widescreen</PresentationFormat>
  <Paragraphs>118</Paragraphs>
  <Slides>26</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Noto Sans SC Black</vt:lpstr>
      <vt:lpstr>Segoe UI Historic</vt:lpstr>
      <vt:lpstr>Wingdings</vt:lpstr>
      <vt:lpstr>Office Theme</vt:lpstr>
      <vt:lpstr>Bank CRM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 Snippets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Nidhi Roy</dc:creator>
  <cp:lastModifiedBy>Nidhi Roy</cp:lastModifiedBy>
  <cp:revision>4</cp:revision>
  <dcterms:created xsi:type="dcterms:W3CDTF">2025-11-06T19:49:26Z</dcterms:created>
  <dcterms:modified xsi:type="dcterms:W3CDTF">2025-12-13T16:34:55Z</dcterms:modified>
</cp:coreProperties>
</file>